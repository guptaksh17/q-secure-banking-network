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80" r:id="rId4"/>
    <p:sldId id="272" r:id="rId5"/>
    <p:sldId id="273" r:id="rId6"/>
    <p:sldId id="283" r:id="rId7"/>
    <p:sldId id="284" r:id="rId8"/>
    <p:sldId id="286" r:id="rId9"/>
    <p:sldId id="287" r:id="rId22"/>
    <p:sldId id="288" r:id="rId23"/>
    <p:sldId id="281" r:id="rId10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75" r:id="rId11"/>
    <p:sldId id="276" r:id="rId13"/>
    <p:sldId id="299" r:id="rId34"/>
    <p:sldId id="277" r:id="rId14"/>
    <p:sldId id="278" r:id="rId15"/>
    <p:sldId id="300" r:id="rId3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8k4vfTcigBOvi1GPtpHoS9j9j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2"/>
    <p:restoredTop sz="94624"/>
  </p:normalViewPr>
  <p:slideViewPr>
    <p:cSldViewPr snapToGrid="0">
      <p:cViewPr>
        <p:scale>
          <a:sx n="75" d="100"/>
          <a:sy n="75" d="100"/>
        </p:scale>
        <p:origin x="1603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1.xml"/><Relationship Id="rId11" Type="http://schemas.openxmlformats.org/officeDocument/2006/relationships/slide" Target="slides/slide22.xml"/><Relationship Id="rId13" Type="http://schemas.openxmlformats.org/officeDocument/2006/relationships/slide" Target="slides/slide23.xml"/><Relationship Id="rId14" Type="http://schemas.openxmlformats.org/officeDocument/2006/relationships/slide" Target="slides/slide25.xml"/><Relationship Id="rId15" Type="http://schemas.openxmlformats.org/officeDocument/2006/relationships/slide" Target="slides/slide26.xml"/><Relationship Id="rId16" Type="http://schemas.openxmlformats.org/officeDocument/2006/relationships/notesMaster" Target="notesMasters/notesMaster1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4.xml"/><Relationship Id="rId35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36427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922E307F-7259-DEA0-329B-21B0B93DA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3589568D-1D4A-6797-06C8-867F30C140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928B0438-5B6C-8D1F-1477-90536C9221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1057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1735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8200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C1DD970-110C-C484-1856-DFECC3BD2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65E6E421-A4E0-FF41-3C8E-A64D896C6B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Changes since the proposal: privacy amplification uses Toeplitz hashing and HKDF only derives keys; SQLite replaced PostgreSQL for portability (PostgreSQL remains supported via the database URL).</a:t>
            </a:r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2286066C-88D4-0984-F9DE-C57A055667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1772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All eight planned phases are complete; each ended with tests passing on macOS, with Windows setup verified.</a:t>
            </a: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4851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Each outcome links to evidence in docs/results/RESULTS.md and the demo.</a:t>
            </a: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2805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Close with the main finding and the honesty statement: educational simulation, not production security.</a:t>
            </a: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35607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57003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QKD engine has no web or database imports, so it is unit-tested directly and reused by the experiment scripts. The database stores parameters, metrics, ciphertext, nonce, tag and a public key id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step exists in the code as its own tested module: states/backends, channel, bb84 sifting, estimation, reconciliation, privacy_amplification, then crypto/kdf and crypto/aead.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decisions are documented in docs/quantum-assumptions.md and docs/cryptography.md.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Live demo: run the lab with defaults, then Eve = 100% (aborts at about 25% QBER), then noise = 10%.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fixed-seed scenarios with 8,192 qubits each; badges show key length or abort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Also demonstrate tag, nonce, associated-data, wrong-key and replay attacks — all are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p/4 derivation: Eve picks the wrong basis half the time; then Bob's result is random, so half of those are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1,053 of 1,980 sessions were accepted and every accepted session gave identical keys at both banks. One session aborted with reconciliation_failed: Cascade left an even pair of errors; the hash check caught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Dashed curve: asymptotic rate with measured Cascade efficiency; dotted: ideal error correction. Measured points approach the dashed curve as block length grows.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 = (measured mean − theory) / (sd/√trials). Under correct modelling |z| &gt; 3 occurs in about 0.3% of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Timings are from one machine (recorded in docs/results/RESULTS.md); experiment tables are machine-independent.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Commands: dev.py test (backend), dev.py test-ui (frontend + build). Details in docs/testing.md.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do not claim production-grade security. Full list in docs/limitations.md.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1.jpg"/><Relationship Id="rId4" Type="http://schemas.openxmlformats.org/officeDocument/2006/relationships/image" Target="../media/image2.jpeg"/><Relationship Id="rId5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1.jpg"/><Relationship Id="rId4" Type="http://schemas.openxmlformats.org/officeDocument/2006/relationships/image" Target="../media/image2.jpeg"/><Relationship Id="rId5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1.jpg"/><Relationship Id="rId4" Type="http://schemas.openxmlformats.org/officeDocument/2006/relationships/image" Target="../media/image2.jpeg"/><Relationship Id="rId5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.jpg"/><Relationship Id="rId4" Type="http://schemas.openxmlformats.org/officeDocument/2006/relationships/image" Target="../media/image2.jpe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.jpg"/><Relationship Id="rId4" Type="http://schemas.openxmlformats.org/officeDocument/2006/relationships/image" Target="../media/image2.jpeg"/><Relationship Id="rId5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.jpg"/><Relationship Id="rId4" Type="http://schemas.openxmlformats.org/officeDocument/2006/relationships/image" Target="../media/image2.jpeg"/><Relationship Id="rId5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324464" y="2482611"/>
            <a:ext cx="8495071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2400" b="1" dirty="0"/>
              <a:t>QUANTUM-SECURE BANKING NETWORK USING BB84 QUANTUM KEY DISTRIBUTION</a:t>
            </a:r>
            <a:br>
              <a:rPr lang="en-IN" sz="2400" b="1" dirty="0"/>
            </a:br>
            <a:r>
              <a:rPr lang="en-IN" sz="2000" b="1" dirty="0"/>
              <a:t>Design and Simulation of a Hybrid Quantum-Classical Framework for Secure Inter-Bank Transactions</a:t>
            </a:r>
            <a:endParaRPr lang="en-IN" sz="2000" dirty="0"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304" y="243589"/>
            <a:ext cx="1402418" cy="51132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1688084" y="278272"/>
            <a:ext cx="61722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SRM INSTITUTE OF SCIENCE AND TECHNOLOGY 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SCHOOL OF COMPUTING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COMPUTING TECHNOLOGIES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 algn="ctr"/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8" name="Picture 2" descr="icot 2023 Trifold Brochure_14.02.2023">
            <a:extLst>
              <a:ext uri="{FF2B5EF4-FFF2-40B4-BE49-F238E27FC236}">
                <a16:creationId xmlns:a16="http://schemas.microsoft.com/office/drawing/2014/main" id="{73D89A76-A2AF-4290-B455-A5514D1E1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074" y="85859"/>
            <a:ext cx="1477926" cy="696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76969B9-D1EF-82D3-5B65-49C438829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3998" y="4956688"/>
            <a:ext cx="2068969" cy="628036"/>
          </a:xfrm>
        </p:spPr>
        <p:txBody>
          <a:bodyPr>
            <a:noAutofit/>
          </a:bodyPr>
          <a:lstStyle/>
          <a:p>
            <a:pPr marL="0" indent="0" algn="l">
              <a:spcBef>
                <a:spcPts val="0"/>
              </a:spcBef>
              <a:buSzPct val="1000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Rudraksh Tewari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RA2311003010535</a:t>
            </a:r>
          </a:p>
          <a:p>
            <a:pPr marL="0" lvl="0" indent="0" algn="l" rtl="0"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E5498D-D7E1-F7D0-830A-E514A95982BB}"/>
              </a:ext>
            </a:extLst>
          </p:cNvPr>
          <p:cNvSpPr txBox="1">
            <a:spLocks/>
          </p:cNvSpPr>
          <p:nvPr/>
        </p:nvSpPr>
        <p:spPr>
          <a:xfrm>
            <a:off x="3342967" y="4956688"/>
            <a:ext cx="3205838" cy="7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l">
              <a:spcBef>
                <a:spcPts val="0"/>
              </a:spcBef>
              <a:buSzPct val="1000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Shaleen Soni</a:t>
            </a:r>
          </a:p>
          <a:p>
            <a:pPr marL="0" indent="0" algn="l">
              <a:spcBef>
                <a:spcPts val="0"/>
              </a:spcBef>
              <a:buSzPct val="1000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RA2311003010589</a:t>
            </a:r>
          </a:p>
          <a:p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1CC65AE-1906-B534-DBDC-89AC8A8E32D9}"/>
              </a:ext>
            </a:extLst>
          </p:cNvPr>
          <p:cNvSpPr txBox="1">
            <a:spLocks/>
          </p:cNvSpPr>
          <p:nvPr/>
        </p:nvSpPr>
        <p:spPr>
          <a:xfrm>
            <a:off x="5411936" y="4956688"/>
            <a:ext cx="3205838" cy="819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l">
              <a:spcBef>
                <a:spcPts val="0"/>
              </a:spcBef>
              <a:buSzPct val="1000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Rachit Agarwal</a:t>
            </a:r>
          </a:p>
          <a:p>
            <a:pPr marL="0" indent="0" algn="l">
              <a:spcBef>
                <a:spcPts val="0"/>
              </a:spcBef>
              <a:buSzPct val="1000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RA2311003010598</a:t>
            </a:r>
          </a:p>
          <a:p>
            <a:pPr marL="0" indent="0" algn="l">
              <a:spcBef>
                <a:spcPts val="592"/>
              </a:spcBef>
              <a:buSzPct val="100000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   Problem Statement</a:t>
            </a:r>
            <a:endParaRPr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114300" indent="0">
              <a:buNone/>
            </a:pPr>
            <a:r>
              <a:rPr lang="en-IN" b="1" dirty="0"/>
              <a:t>Problem</a:t>
            </a:r>
          </a:p>
          <a:p>
            <a:r>
              <a:rPr lang="en-IN" sz="2800" dirty="0"/>
              <a:t>Modern banking systems exchange highly sensitive information such as transaction details, account information, authentication data, and inter-bank settlement messages over network infrastructure.</a:t>
            </a:r>
          </a:p>
          <a:p>
            <a:r>
              <a:rPr lang="en-IN" sz="2800" dirty="0"/>
              <a:t>Conventional cryptographic systems provide strong security against current classical attackers, but the emergence of cryptographically relevant quantum computers threatens widely used public-key techniques such as RSA and ECC. Financial-sector research has therefore begun investigating QKD and hybrid quantum-safe architectures for protecting sensitive financial communication. </a:t>
            </a:r>
          </a:p>
          <a:p>
            <a:pPr marL="114300" indent="0">
              <a:buNone/>
            </a:pPr>
            <a:endParaRPr lang="en-IN" sz="1000" dirty="0"/>
          </a:p>
          <a:p>
            <a:pPr marL="114300" indent="0">
              <a:buNone/>
            </a:pPr>
            <a:r>
              <a:rPr lang="en-IN" b="1" dirty="0"/>
              <a:t>Background</a:t>
            </a:r>
          </a:p>
          <a:p>
            <a:r>
              <a:rPr lang="en-IN" sz="2800" dirty="0"/>
              <a:t>Quantum Key Distribution (QKD) provides a mechanism for establishing shared secret keys using quantum states. In BB84, measurement of quantum states in incompatible bases can introduce detectable discrepancies when an eavesdropper attempts to intercept the transmission.</a:t>
            </a:r>
          </a:p>
          <a:p>
            <a:r>
              <a:rPr lang="en-IN" sz="2800" dirty="0"/>
              <a:t>However, practical QKD deployment faces challenges including channel noise, optical losses, limited key-generation rates, implementation vulnerabilities, and integration with conventional network infrastructure.</a:t>
            </a: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2B603449-972E-1CB5-0B14-CCF94BCD9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FE21F650-A225-D690-37C8-21B35577EB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   Problem Statement</a:t>
            </a:r>
            <a:endParaRPr dirty="0"/>
          </a:p>
        </p:txBody>
      </p:sp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C7B6784A-A800-890A-3046-91A4BE7321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the Study</a:t>
            </a:r>
          </a:p>
          <a:p>
            <a:r>
              <a:rPr lang="en-IN" sz="1800" dirty="0"/>
              <a:t>There is a need for a secure communication framework that demonstrates how QKD can be integrated with conventional cryptographic systems for financial communication.</a:t>
            </a:r>
          </a:p>
          <a:p>
            <a:r>
              <a:rPr lang="en-IN" sz="1800" dirty="0"/>
              <a:t>The proposed system addresses this need by:</a:t>
            </a:r>
          </a:p>
          <a:p>
            <a:pPr lvl="0"/>
            <a:r>
              <a:rPr lang="en-IN" sz="1800" dirty="0"/>
              <a:t>Establishing shared keys between simulated banking endpoints using </a:t>
            </a:r>
            <a:r>
              <a:rPr lang="en-IN" sz="1800" b="1" dirty="0"/>
              <a:t>BB84 QKD</a:t>
            </a:r>
            <a:endParaRPr lang="en-IN" sz="1800" dirty="0"/>
          </a:p>
          <a:p>
            <a:pPr lvl="0"/>
            <a:r>
              <a:rPr lang="en-IN" sz="1800" dirty="0"/>
              <a:t>Detecting potential eavesdropping using </a:t>
            </a:r>
            <a:r>
              <a:rPr lang="en-IN" sz="1800" b="1" dirty="0"/>
              <a:t>Quantum Bit Error Rate (QBER)</a:t>
            </a:r>
            <a:endParaRPr lang="en-IN" sz="1800" dirty="0"/>
          </a:p>
          <a:p>
            <a:pPr lvl="0"/>
            <a:r>
              <a:rPr lang="en-IN" sz="1800" dirty="0"/>
              <a:t>Simulating quantum-channel noise and </a:t>
            </a:r>
            <a:r>
              <a:rPr lang="en-IN" sz="1800" b="1" dirty="0"/>
              <a:t>intercept-and-resend attacks</a:t>
            </a:r>
            <a:endParaRPr lang="en-IN" sz="1800" dirty="0"/>
          </a:p>
          <a:p>
            <a:pPr lvl="0"/>
            <a:r>
              <a:rPr lang="en-IN" sz="1800" dirty="0"/>
              <a:t>Using the accepted quantum-derived key with </a:t>
            </a:r>
            <a:r>
              <a:rPr lang="en-IN" sz="1800" b="1" dirty="0"/>
              <a:t>AES-256-GCM</a:t>
            </a:r>
            <a:r>
              <a:rPr lang="en-IN" sz="1800" dirty="0"/>
              <a:t> for transaction encryption and integrity protection</a:t>
            </a:r>
          </a:p>
          <a:p>
            <a:pPr lvl="0"/>
            <a:r>
              <a:rPr lang="en-IN" sz="1800" dirty="0"/>
              <a:t>Evaluating the effect of noise and attacks on key generation and communication security</a:t>
            </a:r>
          </a:p>
          <a:p>
            <a:r>
              <a:rPr lang="en-IN" sz="1800" dirty="0"/>
              <a:t>Recent financial-sector research shows that QKD is being investigated both as a simulated financial-data security mechanism and in real operational financial infrastructure, supporting the relevance of this application area.</a:t>
            </a:r>
          </a:p>
          <a:p>
            <a:pPr marL="11430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>
            <a:extLst>
              <a:ext uri="{FF2B5EF4-FFF2-40B4-BE49-F238E27FC236}">
                <a16:creationId xmlns:a16="http://schemas.microsoft.com/office/drawing/2014/main" id="{B7A13243-F5F3-28C3-24C9-74DF3F5B19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D79C26B3-96C2-CF3A-D226-A4E9A4073E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5DD20C6B-9D67-8F00-2880-094AEAABE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7422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 Objectives</a:t>
            </a:r>
            <a:endParaRPr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417638"/>
            <a:ext cx="8229600" cy="4708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114300" indent="0">
              <a:buNone/>
            </a:pPr>
            <a:r>
              <a:rPr lang="en-IN" b="1" dirty="0"/>
              <a:t>Objective 1</a:t>
            </a:r>
          </a:p>
          <a:p>
            <a:r>
              <a:rPr lang="en-IN" sz="2800" dirty="0"/>
              <a:t>To design and simulate a BB84-based Quantum Key Distribution mechanism between two banking endpoints.</a:t>
            </a:r>
          </a:p>
          <a:p>
            <a:r>
              <a:rPr lang="en-IN" sz="2800" dirty="0"/>
              <a:t>The system will generate quantum bits, select measurement bases, perform quantum measurements, reconcile bases, generate a sifted key, and estimate QBER.</a:t>
            </a:r>
          </a:p>
          <a:p>
            <a:pPr marL="114300" indent="0">
              <a:buNone/>
            </a:pPr>
            <a:r>
              <a:rPr lang="en-IN" b="1" dirty="0"/>
              <a:t>Objective 2</a:t>
            </a:r>
          </a:p>
          <a:p>
            <a:r>
              <a:rPr lang="en-IN" sz="2800" dirty="0"/>
              <a:t>To develop a security analysis module for detecting eavesdropping and channel noise.</a:t>
            </a:r>
          </a:p>
          <a:p>
            <a:r>
              <a:rPr lang="en-IN" sz="2800" dirty="0"/>
              <a:t>The system will simulate intercept-and-resend attacks and configurable channel noise and evaluate their effect on QBER, sifted-key quality, and key acceptance.</a:t>
            </a:r>
          </a:p>
          <a:p>
            <a:pPr marL="114300" indent="0">
              <a:buNone/>
            </a:pPr>
            <a:r>
              <a:rPr lang="en-IN" b="1" dirty="0"/>
              <a:t>Objective 3</a:t>
            </a:r>
          </a:p>
          <a:p>
            <a:r>
              <a:rPr lang="en-IN" sz="2800" dirty="0"/>
              <a:t>To integrate the quantum-derived key with classical symmetric encryption for secure banking transactions.</a:t>
            </a:r>
          </a:p>
          <a:p>
            <a:r>
              <a:rPr lang="en-IN" sz="2800" dirty="0"/>
              <a:t>An accepted QKD key will be processed and used with AES-256-GCM to provide confidentiality and integrity for simulated inter-bank transactions.</a:t>
            </a: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6503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  Literature Review</a:t>
            </a:r>
            <a:endParaRPr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223645"/>
            <a:ext cx="8229600" cy="5165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114300" indent="0">
              <a:buNone/>
            </a:pPr>
            <a:r>
              <a:rPr lang="en-IN" sz="4000" b="1" dirty="0"/>
              <a:t>Existing Systems / Recent Research</a:t>
            </a:r>
          </a:p>
          <a:p>
            <a:pPr marL="114300" indent="0">
              <a:buNone/>
            </a:pPr>
            <a:endParaRPr lang="en-IN" sz="1000" b="1" dirty="0"/>
          </a:p>
          <a:p>
            <a:pPr marL="114300" indent="0">
              <a:buNone/>
            </a:pPr>
            <a:r>
              <a:rPr lang="en-IN" b="1" dirty="0"/>
              <a:t>1.</a:t>
            </a:r>
            <a:r>
              <a:rPr lang="en-IN" sz="2800" b="1" dirty="0"/>
              <a:t> </a:t>
            </a:r>
            <a:r>
              <a:rPr lang="en-IN" b="1" dirty="0" err="1"/>
              <a:t>Brazaola</a:t>
            </a:r>
            <a:r>
              <a:rPr lang="en-IN" b="1" dirty="0"/>
              <a:t>-Vicario et al. (2024)</a:t>
            </a:r>
          </a:p>
          <a:p>
            <a:r>
              <a:rPr lang="en-IN" sz="2800" b="1" dirty="0"/>
              <a:t>Quantum key distribution: a survey on current vulnerability trends and potential implementation risks</a:t>
            </a:r>
          </a:p>
          <a:p>
            <a:r>
              <a:rPr lang="en-IN" sz="2800" dirty="0"/>
              <a:t>Reviewed practical QKD vulnerabilities and highlighted implementation-level risks, including side-channel attacks and weaknesses associated with optical components and protocol implementation.</a:t>
            </a:r>
          </a:p>
          <a:p>
            <a:pPr marL="114300" indent="0">
              <a:buNone/>
            </a:pPr>
            <a:r>
              <a:rPr lang="en-IN" b="1" dirty="0"/>
              <a:t>2. Nikula, </a:t>
            </a:r>
            <a:r>
              <a:rPr lang="en-IN" b="1" dirty="0" err="1"/>
              <a:t>Lintulampi</a:t>
            </a:r>
            <a:r>
              <a:rPr lang="en-IN" b="1" dirty="0"/>
              <a:t> &amp; </a:t>
            </a:r>
            <a:r>
              <a:rPr lang="en-IN" b="1" dirty="0" err="1"/>
              <a:t>Halunen</a:t>
            </a:r>
            <a:r>
              <a:rPr lang="en-IN" b="1" dirty="0"/>
              <a:t> (2024)</a:t>
            </a:r>
          </a:p>
          <a:p>
            <a:r>
              <a:rPr lang="en-IN" sz="2800" b="1" dirty="0"/>
              <a:t>Security Analysis for BB84 Key Distillation</a:t>
            </a:r>
          </a:p>
          <a:p>
            <a:r>
              <a:rPr lang="en-IN" sz="2800" dirty="0"/>
              <a:t>Studied classical post-processing in BB84 and showed that key distillation, information leakage, and parameter selection strongly affect the security of the final key. Their case study considered intercept-and-resend attacks. </a:t>
            </a:r>
          </a:p>
          <a:p>
            <a:pPr marL="114300" indent="0">
              <a:buNone/>
            </a:pPr>
            <a:r>
              <a:rPr lang="en-IN" b="1" dirty="0"/>
              <a:t>3. Stathis et al. (2024)</a:t>
            </a:r>
          </a:p>
          <a:p>
            <a:r>
              <a:rPr lang="en-IN" sz="2800" b="1" dirty="0"/>
              <a:t>Experimental feasibility analysis of quantum/classical coexistence over fibre and free space links</a:t>
            </a:r>
          </a:p>
          <a:p>
            <a:r>
              <a:rPr lang="en-IN" sz="2800" dirty="0"/>
              <a:t>Demonstrated practical BB84-oriented QKD evaluation under fibre and free-space conditions, emphasizing the influence of noise, losses, and coexistence with classical communication.</a:t>
            </a: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114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B147E-5C32-48BC-8252-B6932A4715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F05D19-68E6-BE6D-A5A3-984E5BD0116C}"/>
              </a:ext>
            </a:extLst>
          </p:cNvPr>
          <p:cNvSpPr txBox="1"/>
          <p:nvPr/>
        </p:nvSpPr>
        <p:spPr>
          <a:xfrm>
            <a:off x="688259" y="875071"/>
            <a:ext cx="7590502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Dervisevic et al. (2025)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Key Distribution Networks – Key Management: A Survey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Highlighted that QKD networks must efficiently generate, manage, distribute, and consume limited key resources when integrated with critical infrastructures.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Wawage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(2025)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Key Distribution for Secure Financial Data Exchange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Specifically investigated QKD for financial data exchange, including inter-bank transfers, trading, digital payments and hybrid models. The study also discusses practical issues including distance, cost, infrastructure compatibility, and scalability.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Selimović et al. (2026)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of Entanglement-Based QKD in Financial Infrastructure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QKD in operational financial infrastructure over a 22 km fibre connection between two data centres, generating secure keys continuously for four months and using the keys to establish a VPN tunnel. The work demonstrates practical feasibility but uses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entanglement-based BBM92 rather than BB84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417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F52D7-2799-8BA7-65BB-004F1C8A5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501650"/>
            <a:ext cx="8229600" cy="5576017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2000" b="1" dirty="0"/>
              <a:t>Key Findings</a:t>
            </a:r>
          </a:p>
          <a:p>
            <a:pPr lvl="0"/>
            <a:r>
              <a:rPr lang="en-IN" sz="1800" dirty="0"/>
              <a:t>Recent studies confirm increasing interest in </a:t>
            </a:r>
            <a:r>
              <a:rPr lang="en-IN" sz="1800" b="1" dirty="0"/>
              <a:t>practical QKD deployment and network integration</a:t>
            </a:r>
            <a:r>
              <a:rPr lang="en-IN" sz="1800" dirty="0"/>
              <a:t>.</a:t>
            </a:r>
          </a:p>
          <a:p>
            <a:pPr lvl="0"/>
            <a:r>
              <a:rPr lang="en-IN" sz="1800" b="1" dirty="0"/>
              <a:t>QBER and key post-processing</a:t>
            </a:r>
            <a:r>
              <a:rPr lang="en-IN" sz="1800" dirty="0"/>
              <a:t> are important for assessing the quality and security of generated keys.</a:t>
            </a:r>
          </a:p>
          <a:p>
            <a:pPr lvl="0"/>
            <a:r>
              <a:rPr lang="en-IN" sz="1800" dirty="0"/>
              <a:t>Practical QKD performance is influenced by </a:t>
            </a:r>
            <a:r>
              <a:rPr lang="en-IN" sz="1800" b="1" dirty="0"/>
              <a:t>noise, channel loss, implementation imperfections and network infrastructure</a:t>
            </a:r>
            <a:r>
              <a:rPr lang="en-IN" sz="1800" dirty="0"/>
              <a:t>.</a:t>
            </a:r>
          </a:p>
          <a:p>
            <a:pPr lvl="0"/>
            <a:r>
              <a:rPr lang="en-IN" sz="1800" dirty="0"/>
              <a:t>Financial applications are moving from theoretical discussion toward </a:t>
            </a:r>
            <a:r>
              <a:rPr lang="en-IN" sz="1800" b="1" dirty="0"/>
              <a:t>simulation, hybrid architectures and real infrastructure deployment</a:t>
            </a:r>
            <a:r>
              <a:rPr lang="en-IN" sz="1800" dirty="0"/>
              <a:t>. </a:t>
            </a:r>
          </a:p>
          <a:p>
            <a:pPr marL="114300" lvl="0" indent="0">
              <a:buNone/>
            </a:pPr>
            <a:endParaRPr lang="en-IN" sz="800" dirty="0"/>
          </a:p>
          <a:p>
            <a:pPr marL="114300" lvl="0" indent="0">
              <a:buNone/>
            </a:pPr>
            <a:r>
              <a:rPr lang="en-IN" sz="2000" b="1" dirty="0"/>
              <a:t>Research / Implementation Gap</a:t>
            </a:r>
          </a:p>
          <a:p>
            <a:pPr lvl="0"/>
            <a:r>
              <a:rPr lang="en-IN" sz="1800" dirty="0"/>
              <a:t>Recent work focuses significantly on physical QKD systems, network key management, or large-scale deployment.</a:t>
            </a:r>
          </a:p>
          <a:p>
            <a:pPr lvl="0"/>
            <a:r>
              <a:rPr lang="en-IN" sz="1800" dirty="0"/>
              <a:t>There is room for a compact, application-level platform that </a:t>
            </a:r>
            <a:r>
              <a:rPr lang="en-IN" sz="1800" b="1" dirty="0"/>
              <a:t>visually connects BB84 key establishment, eavesdropping detection, QBER analysis, key validation and encrypted financial transactions</a:t>
            </a:r>
            <a:r>
              <a:rPr lang="en-IN" sz="1800" dirty="0"/>
              <a:t>.</a:t>
            </a:r>
          </a:p>
          <a:p>
            <a:pPr lvl="0"/>
            <a:r>
              <a:rPr lang="en-IN" sz="1800" dirty="0"/>
              <a:t>The proposed project addresses this implementation gap through a </a:t>
            </a:r>
            <a:r>
              <a:rPr lang="en-IN" sz="1800" b="1" dirty="0"/>
              <a:t>simulation-based inter-bank banking environment</a:t>
            </a:r>
            <a:r>
              <a:rPr lang="en-IN" sz="1800" dirty="0"/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0131B-A1E8-2B25-6E4C-F07DABCEE7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926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10255DA-23BB-9010-999F-87FCA2450D19}"/>
              </a:ext>
            </a:extLst>
          </p:cNvPr>
          <p:cNvSpPr/>
          <p:nvPr/>
        </p:nvSpPr>
        <p:spPr>
          <a:xfrm>
            <a:off x="747252" y="2755326"/>
            <a:ext cx="7777316" cy="419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95AB0-1A1C-BB93-60A4-B35EC6DBEE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91F3AB-10EE-B780-3847-D8778EFF3C59}"/>
              </a:ext>
            </a:extLst>
          </p:cNvPr>
          <p:cNvSpPr txBox="1"/>
          <p:nvPr/>
        </p:nvSpPr>
        <p:spPr>
          <a:xfrm>
            <a:off x="2213199" y="233758"/>
            <a:ext cx="53276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dirty="0"/>
              <a:t> Methodology</a:t>
            </a:r>
            <a:endParaRPr lang="en-IN" sz="3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C57B1-E46A-3096-224E-32490B996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83844"/>
            <a:ext cx="8229600" cy="5418240"/>
          </a:xfrm>
        </p:spPr>
        <p:txBody>
          <a:bodyPr>
            <a:normAutofit fontScale="70000" lnSpcReduction="20000"/>
          </a:bodyPr>
          <a:lstStyle/>
          <a:p>
            <a:pPr marL="114300" indent="0">
              <a:buNone/>
            </a:pPr>
            <a:r>
              <a:rPr lang="en-IN" b="1" dirty="0"/>
              <a:t>1. Hybrid Quantum-Classical Cryptography</a:t>
            </a:r>
          </a:p>
          <a:p>
            <a:pPr marL="114300" indent="0">
              <a:buNone/>
            </a:pPr>
            <a:r>
              <a:rPr lang="en-IN" sz="2900" dirty="0"/>
              <a:t>The proposed system follows a </a:t>
            </a:r>
            <a:r>
              <a:rPr lang="en-IN" sz="2900" b="1" dirty="0"/>
              <a:t>hybrid cryptographic architecture</a:t>
            </a:r>
            <a:r>
              <a:rPr lang="en-IN" sz="2900" dirty="0"/>
              <a:t>, where quantum cryptography is used for </a:t>
            </a:r>
            <a:r>
              <a:rPr lang="en-IN" sz="2900" b="1" dirty="0"/>
              <a:t>secure key distribution</a:t>
            </a:r>
            <a:r>
              <a:rPr lang="en-IN" sz="2900" dirty="0"/>
              <a:t>, while classical cryptography is used for </a:t>
            </a:r>
            <a:r>
              <a:rPr lang="en-IN" sz="2900" b="1" dirty="0"/>
              <a:t>actual data encryption</a:t>
            </a:r>
            <a:r>
              <a:rPr lang="en-IN" sz="2900" dirty="0"/>
              <a:t>.</a:t>
            </a:r>
          </a:p>
          <a:p>
            <a:pPr marL="114300" indent="0">
              <a:buNone/>
            </a:pPr>
            <a:r>
              <a:rPr lang="en-IN" sz="2900" dirty="0"/>
              <a:t>The basic principle is:</a:t>
            </a:r>
          </a:p>
          <a:p>
            <a:pPr marL="114300" indent="0">
              <a:buNone/>
            </a:pPr>
            <a:endParaRPr lang="en-IN" sz="2900" dirty="0"/>
          </a:p>
          <a:p>
            <a:pPr marL="114300" indent="0">
              <a:buNone/>
            </a:pPr>
            <a:r>
              <a:rPr lang="en-IN" sz="2900" dirty="0"/>
              <a:t>   BB84 QKD -&gt; Shared Secret Key -&gt; AES-256-GCM -&gt; Encrypted Transaction</a:t>
            </a:r>
          </a:p>
          <a:p>
            <a:pPr marL="114300" indent="0">
              <a:buNone/>
            </a:pPr>
            <a:endParaRPr lang="en-IN" sz="2900" dirty="0"/>
          </a:p>
          <a:p>
            <a:pPr marL="114300" indent="0">
              <a:buNone/>
            </a:pPr>
            <a:r>
              <a:rPr lang="en-IN" sz="2900" dirty="0"/>
              <a:t>This is important because BB84 is a </a:t>
            </a:r>
            <a:r>
              <a:rPr lang="en-IN" sz="2900" b="1" dirty="0"/>
              <a:t>Quantum Key Distribution protocol</a:t>
            </a:r>
            <a:r>
              <a:rPr lang="en-IN" sz="2900" dirty="0"/>
              <a:t>, not a conventional message-encryption algorithm.</a:t>
            </a:r>
          </a:p>
          <a:p>
            <a:pPr marL="114300" indent="0">
              <a:buNone/>
            </a:pPr>
            <a:r>
              <a:rPr lang="en-IN" sz="2900" dirty="0"/>
              <a:t>In the proposed banking network, two simulated banks establish a common secret key through BB84. Once the key is accepted, the key is processed and used by AES-256-GCM to encrypt a banking transaction.</a:t>
            </a:r>
          </a:p>
          <a:p>
            <a:pPr marL="114300" indent="0">
              <a:buNone/>
            </a:pPr>
            <a:r>
              <a:rPr lang="en-IN" sz="2900" dirty="0"/>
              <a:t>Thus, the system combines:</a:t>
            </a:r>
          </a:p>
          <a:p>
            <a:pPr marL="114300" lvl="0" indent="0">
              <a:buNone/>
            </a:pPr>
            <a:r>
              <a:rPr lang="en-IN" sz="2900" b="1" dirty="0"/>
              <a:t>Quantum cryptography:</a:t>
            </a:r>
            <a:r>
              <a:rPr lang="en-IN" sz="2900" dirty="0"/>
              <a:t> secure key establishment</a:t>
            </a:r>
          </a:p>
          <a:p>
            <a:pPr marL="114300" lvl="0" indent="0">
              <a:buNone/>
            </a:pPr>
            <a:r>
              <a:rPr lang="en-IN" sz="2900" b="1" dirty="0"/>
              <a:t>Classical cryptography:</a:t>
            </a:r>
            <a:r>
              <a:rPr lang="en-IN" sz="2900" dirty="0"/>
              <a:t> transaction encryption and integrity</a:t>
            </a:r>
          </a:p>
          <a:p>
            <a:pPr marL="114300" lvl="0" indent="0">
              <a:buNone/>
            </a:pPr>
            <a:r>
              <a:rPr lang="en-IN" sz="2900" b="1" dirty="0"/>
              <a:t>Security analysis:</a:t>
            </a:r>
            <a:r>
              <a:rPr lang="en-IN" sz="2900" dirty="0"/>
              <a:t> detection of eavesdropping and channel disturbances</a:t>
            </a:r>
          </a:p>
        </p:txBody>
      </p:sp>
      <p:pic>
        <p:nvPicPr>
          <p:cNvPr id="10" name="Google Shape;98;p2">
            <a:extLst>
              <a:ext uri="{FF2B5EF4-FFF2-40B4-BE49-F238E27FC236}">
                <a16:creationId xmlns:a16="http://schemas.microsoft.com/office/drawing/2014/main" id="{590E9404-29DF-6274-39F6-21205C9E2FC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7480" y="290854"/>
            <a:ext cx="1972340" cy="601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2" descr="icot 2023 Trifold Brochure_14.02.2023">
            <a:extLst>
              <a:ext uri="{FF2B5EF4-FFF2-40B4-BE49-F238E27FC236}">
                <a16:creationId xmlns:a16="http://schemas.microsoft.com/office/drawing/2014/main" id="{CD42DF90-8FDB-57AF-D038-AE1F5378C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0819" y="259773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5549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   System Architecture</a:t>
            </a:r>
            <a:endParaRPr dirty="0"/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Three-tier simulation platform (all components run locally)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457200" y="1828800"/>
            <a:ext cx="2377440" cy="356616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9" name="TextBox 1028"/>
          <p:cNvSpPr txBox="1"/>
          <p:nvPr/>
        </p:nvSpPr>
        <p:spPr>
          <a:xfrm>
            <a:off x="566928" y="1901952"/>
            <a:ext cx="215798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alibri"/>
              </a:rPr>
              <a:t>React + Vite frontend</a:t>
            </a:r>
          </a:p>
        </p:txBody>
      </p:sp>
      <p:sp>
        <p:nvSpPr>
          <p:cNvPr id="1030" name="TextBox 1029"/>
          <p:cNvSpPr txBox="1"/>
          <p:nvPr/>
        </p:nvSpPr>
        <p:spPr>
          <a:xfrm>
            <a:off x="566928" y="2249424"/>
            <a:ext cx="2157984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Dashboard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QKD Laboratory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Security Simulator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Transaction Transfer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Experimental Analysis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History &amp; Security Logs</a:t>
            </a:r>
          </a:p>
          <a:p>
            <a:pPr algn="l"/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Recharts · Tailwind CSS</a:t>
            </a:r>
          </a:p>
        </p:txBody>
      </p:sp>
      <p:cxnSp>
        <p:nvCxnSpPr>
          <p:cNvPr id="1031" name="Connector 1030"/>
          <p:cNvCxnSpPr/>
          <p:nvPr/>
        </p:nvCxnSpPr>
        <p:spPr>
          <a:xfrm>
            <a:off x="2880360" y="3611880"/>
            <a:ext cx="457200" cy="0"/>
          </a:xfrm>
          <a:prstGeom prst="line">
            <a:avLst/>
          </a:prstGeom>
          <a:ln w="25400">
            <a:solidFill>
              <a:srgbClr val="1F38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2" name="TextBox 1031"/>
          <p:cNvSpPr txBox="1"/>
          <p:nvPr/>
        </p:nvSpPr>
        <p:spPr>
          <a:xfrm>
            <a:off x="2788920" y="3154680"/>
            <a:ext cx="6400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50" b="0">
                <a:solidFill>
                  <a:srgbClr val="595959"/>
                </a:solidFill>
                <a:latin typeface="Calibri"/>
              </a:rPr>
              <a:t>REST /api</a:t>
            </a:r>
          </a:p>
        </p:txBody>
      </p:sp>
      <p:sp>
        <p:nvSpPr>
          <p:cNvPr id="1033" name="Rounded Rectangle 1032"/>
          <p:cNvSpPr/>
          <p:nvPr/>
        </p:nvSpPr>
        <p:spPr>
          <a:xfrm>
            <a:off x="3383280" y="1828800"/>
            <a:ext cx="3246120" cy="3566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4" name="TextBox 1033"/>
          <p:cNvSpPr txBox="1"/>
          <p:nvPr/>
        </p:nvSpPr>
        <p:spPr>
          <a:xfrm>
            <a:off x="3493008" y="1883664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alibri"/>
              </a:rPr>
              <a:t>FastAPI backend (Python 3.12)</a:t>
            </a:r>
          </a:p>
        </p:txBody>
      </p:sp>
      <p:sp>
        <p:nvSpPr>
          <p:cNvPr id="1035" name="Rounded Rectangle 1034"/>
          <p:cNvSpPr/>
          <p:nvPr/>
        </p:nvSpPr>
        <p:spPr>
          <a:xfrm>
            <a:off x="3520440" y="2286000"/>
            <a:ext cx="297180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6" name="TextBox 1035"/>
          <p:cNvSpPr txBox="1"/>
          <p:nvPr/>
        </p:nvSpPr>
        <p:spPr>
          <a:xfrm>
            <a:off x="3584448" y="2304288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50" b="1">
                <a:solidFill>
                  <a:srgbClr val="1F3864"/>
                </a:solidFill>
                <a:latin typeface="Calibri"/>
              </a:rPr>
              <a:t>app/qkd</a:t>
            </a:r>
          </a:p>
        </p:txBody>
      </p:sp>
      <p:sp>
        <p:nvSpPr>
          <p:cNvPr id="1037" name="TextBox 1036"/>
          <p:cNvSpPr txBox="1"/>
          <p:nvPr/>
        </p:nvSpPr>
        <p:spPr>
          <a:xfrm>
            <a:off x="3584448" y="2551176"/>
            <a:ext cx="283464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BB84 · NumPy &amp; Qiskit Aer · Eve &amp; noise · QBER · Cascade · Toeplitz PA</a:t>
            </a:r>
          </a:p>
        </p:txBody>
      </p:sp>
      <p:sp>
        <p:nvSpPr>
          <p:cNvPr id="1038" name="Rounded Rectangle 1037"/>
          <p:cNvSpPr/>
          <p:nvPr/>
        </p:nvSpPr>
        <p:spPr>
          <a:xfrm>
            <a:off x="3520440" y="3054096"/>
            <a:ext cx="297180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9" name="TextBox 1038"/>
          <p:cNvSpPr txBox="1"/>
          <p:nvPr/>
        </p:nvSpPr>
        <p:spPr>
          <a:xfrm>
            <a:off x="3584448" y="3072384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50" b="1">
                <a:solidFill>
                  <a:srgbClr val="1F3864"/>
                </a:solidFill>
                <a:latin typeface="Calibri"/>
              </a:rPr>
              <a:t>app/crypto</a:t>
            </a:r>
          </a:p>
        </p:txBody>
      </p:sp>
      <p:sp>
        <p:nvSpPr>
          <p:cNvPr id="1040" name="TextBox 1039"/>
          <p:cNvSpPr txBox="1"/>
          <p:nvPr/>
        </p:nvSpPr>
        <p:spPr>
          <a:xfrm>
            <a:off x="3584448" y="3319272"/>
            <a:ext cx="283464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HKDF-SHA256 · AES-256-GCM · nonces · replay check</a:t>
            </a:r>
          </a:p>
        </p:txBody>
      </p:sp>
      <p:sp>
        <p:nvSpPr>
          <p:cNvPr id="1041" name="Rounded Rectangle 1040"/>
          <p:cNvSpPr/>
          <p:nvPr/>
        </p:nvSpPr>
        <p:spPr>
          <a:xfrm>
            <a:off x="3520440" y="3822191"/>
            <a:ext cx="297180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2" name="TextBox 1041"/>
          <p:cNvSpPr txBox="1"/>
          <p:nvPr/>
        </p:nvSpPr>
        <p:spPr>
          <a:xfrm>
            <a:off x="3584448" y="3840479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50" b="1">
                <a:solidFill>
                  <a:srgbClr val="1F3864"/>
                </a:solidFill>
                <a:latin typeface="Calibri"/>
              </a:rPr>
              <a:t>app/services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3584448" y="4087368"/>
            <a:ext cx="283464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Transfer workflow · security events · experiments</a:t>
            </a:r>
          </a:p>
        </p:txBody>
      </p:sp>
      <p:sp>
        <p:nvSpPr>
          <p:cNvPr id="1044" name="Rounded Rectangle 1043"/>
          <p:cNvSpPr/>
          <p:nvPr/>
        </p:nvSpPr>
        <p:spPr>
          <a:xfrm>
            <a:off x="3520440" y="4590288"/>
            <a:ext cx="297180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5" name="TextBox 1044"/>
          <p:cNvSpPr txBox="1"/>
          <p:nvPr/>
        </p:nvSpPr>
        <p:spPr>
          <a:xfrm>
            <a:off x="3584448" y="4608575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50" b="1">
                <a:solidFill>
                  <a:srgbClr val="1F3864"/>
                </a:solidFill>
                <a:latin typeface="Calibri"/>
              </a:rPr>
              <a:t>app/api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3584448" y="4855464"/>
            <a:ext cx="283464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Pydantic-validated REST endpoints</a:t>
            </a:r>
          </a:p>
        </p:txBody>
      </p:sp>
      <p:cxnSp>
        <p:nvCxnSpPr>
          <p:cNvPr id="1047" name="Connector 1046"/>
          <p:cNvCxnSpPr/>
          <p:nvPr/>
        </p:nvCxnSpPr>
        <p:spPr>
          <a:xfrm>
            <a:off x="6675120" y="3611880"/>
            <a:ext cx="457200" cy="0"/>
          </a:xfrm>
          <a:prstGeom prst="line">
            <a:avLst/>
          </a:prstGeom>
          <a:ln w="25400">
            <a:solidFill>
              <a:srgbClr val="1F38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" name="Rounded Rectangle 1047"/>
          <p:cNvSpPr/>
          <p:nvPr/>
        </p:nvSpPr>
        <p:spPr>
          <a:xfrm>
            <a:off x="7178040" y="1828800"/>
            <a:ext cx="1508760" cy="356616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9" name="TextBox 1048"/>
          <p:cNvSpPr txBox="1"/>
          <p:nvPr/>
        </p:nvSpPr>
        <p:spPr>
          <a:xfrm>
            <a:off x="7287768" y="1901952"/>
            <a:ext cx="128930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alibri"/>
              </a:rPr>
              <a:t>SQLite</a:t>
            </a:r>
          </a:p>
        </p:txBody>
      </p:sp>
      <p:sp>
        <p:nvSpPr>
          <p:cNvPr id="1050" name="TextBox 1049"/>
          <p:cNvSpPr txBox="1"/>
          <p:nvPr/>
        </p:nvSpPr>
        <p:spPr>
          <a:xfrm>
            <a:off x="7287768" y="2249424"/>
            <a:ext cx="1289304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QKD sessions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Transactions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Security events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Experiment results</a:t>
            </a:r>
          </a:p>
          <a:p>
            <a:pPr algn="l"/>
          </a:p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No key material ever stored</a:t>
            </a:r>
          </a:p>
        </p:txBody>
      </p:sp>
      <p:sp>
        <p:nvSpPr>
          <p:cNvPr id="1051" name="TextBox 1050"/>
          <p:cNvSpPr txBox="1"/>
          <p:nvPr/>
        </p:nvSpPr>
        <p:spPr>
          <a:xfrm>
            <a:off x="457200" y="557784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Experiments (backend/experiments) drive the same engine headlessly and regenerate every figure from a seed.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 sz="3400"/>
              <a:t>   Key-Exchange Pipeline</a:t>
            </a:r>
            <a:endParaRPr dirty="0"/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One fresh BB84 session per transfer, from qubits to an authenticated message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457200" y="1874519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9" name="TextBox 1028"/>
          <p:cNvSpPr txBox="1"/>
          <p:nvPr/>
        </p:nvSpPr>
        <p:spPr>
          <a:xfrm>
            <a:off x="530352" y="1947672"/>
            <a:ext cx="1682496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Calibri"/>
              </a:rPr>
              <a:t>1  Alice prepares</a:t>
            </a:r>
          </a:p>
        </p:txBody>
      </p:sp>
      <p:sp>
        <p:nvSpPr>
          <p:cNvPr id="1030" name="TextBox 1029"/>
          <p:cNvSpPr txBox="1"/>
          <p:nvPr/>
        </p:nvSpPr>
        <p:spPr>
          <a:xfrm>
            <a:off x="530352" y="2313432"/>
            <a:ext cx="1682496" cy="8503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Random bits, random Z/X bases: |0⟩ |1⟩ |+⟩ |−⟩</a:t>
            </a:r>
          </a:p>
        </p:txBody>
      </p:sp>
      <p:cxnSp>
        <p:nvCxnSpPr>
          <p:cNvPr id="1031" name="Connector 1030"/>
          <p:cNvCxnSpPr/>
          <p:nvPr/>
        </p:nvCxnSpPr>
        <p:spPr>
          <a:xfrm>
            <a:off x="2313432" y="2537460"/>
            <a:ext cx="246888" cy="0"/>
          </a:xfrm>
          <a:prstGeom prst="line">
            <a:avLst/>
          </a:prstGeom>
          <a:ln w="25400">
            <a:solidFill>
              <a:srgbClr val="1F38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2" name="Rounded Rectangle 1031"/>
          <p:cNvSpPr/>
          <p:nvPr/>
        </p:nvSpPr>
        <p:spPr>
          <a:xfrm>
            <a:off x="2587752" y="1874519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3" name="TextBox 1032"/>
          <p:cNvSpPr txBox="1"/>
          <p:nvPr/>
        </p:nvSpPr>
        <p:spPr>
          <a:xfrm>
            <a:off x="2660904" y="1947672"/>
            <a:ext cx="1682496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Calibri"/>
              </a:rPr>
              <a:t>2  Quantum channel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2660904" y="2313432"/>
            <a:ext cx="1682496" cy="8503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Optional Eve (intercept-resend) then noise</a:t>
            </a:r>
          </a:p>
        </p:txBody>
      </p:sp>
      <p:cxnSp>
        <p:nvCxnSpPr>
          <p:cNvPr id="1035" name="Connector 1034"/>
          <p:cNvCxnSpPr/>
          <p:nvPr/>
        </p:nvCxnSpPr>
        <p:spPr>
          <a:xfrm>
            <a:off x="4443984" y="2537460"/>
            <a:ext cx="246888" cy="0"/>
          </a:xfrm>
          <a:prstGeom prst="line">
            <a:avLst/>
          </a:prstGeom>
          <a:ln w="25400">
            <a:solidFill>
              <a:srgbClr val="1F38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6" name="Rounded Rectangle 1035"/>
          <p:cNvSpPr/>
          <p:nvPr/>
        </p:nvSpPr>
        <p:spPr>
          <a:xfrm>
            <a:off x="4718304" y="1874519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7" name="TextBox 1036"/>
          <p:cNvSpPr txBox="1"/>
          <p:nvPr/>
        </p:nvSpPr>
        <p:spPr>
          <a:xfrm>
            <a:off x="4791456" y="1947672"/>
            <a:ext cx="1682496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Calibri"/>
              </a:rPr>
              <a:t>3  Bob measures</a:t>
            </a:r>
          </a:p>
        </p:txBody>
      </p:sp>
      <p:sp>
        <p:nvSpPr>
          <p:cNvPr id="1038" name="TextBox 1037"/>
          <p:cNvSpPr txBox="1"/>
          <p:nvPr/>
        </p:nvSpPr>
        <p:spPr>
          <a:xfrm>
            <a:off x="4791456" y="2313432"/>
            <a:ext cx="1682496" cy="8503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Random basis; Born-rule outcome</a:t>
            </a:r>
          </a:p>
        </p:txBody>
      </p:sp>
      <p:cxnSp>
        <p:nvCxnSpPr>
          <p:cNvPr id="1039" name="Connector 1038"/>
          <p:cNvCxnSpPr/>
          <p:nvPr/>
        </p:nvCxnSpPr>
        <p:spPr>
          <a:xfrm>
            <a:off x="6574536" y="2537460"/>
            <a:ext cx="246888" cy="0"/>
          </a:xfrm>
          <a:prstGeom prst="line">
            <a:avLst/>
          </a:prstGeom>
          <a:ln w="25400">
            <a:solidFill>
              <a:srgbClr val="1F38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0" name="Rounded Rectangle 1039"/>
          <p:cNvSpPr/>
          <p:nvPr/>
        </p:nvSpPr>
        <p:spPr>
          <a:xfrm>
            <a:off x="6848856" y="1874519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1" name="TextBox 1040"/>
          <p:cNvSpPr txBox="1"/>
          <p:nvPr/>
        </p:nvSpPr>
        <p:spPr>
          <a:xfrm>
            <a:off x="6922008" y="1947672"/>
            <a:ext cx="1682496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Calibri"/>
              </a:rPr>
              <a:t>4  Sifting</a:t>
            </a:r>
          </a:p>
        </p:txBody>
      </p:sp>
      <p:sp>
        <p:nvSpPr>
          <p:cNvPr id="1042" name="TextBox 1041"/>
          <p:cNvSpPr txBox="1"/>
          <p:nvPr/>
        </p:nvSpPr>
        <p:spPr>
          <a:xfrm>
            <a:off x="6922008" y="2313432"/>
            <a:ext cx="1682496" cy="8503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Compare bases only; ≈ 50% kept</a:t>
            </a:r>
          </a:p>
        </p:txBody>
      </p:sp>
      <p:sp>
        <p:nvSpPr>
          <p:cNvPr id="1043" name="Rounded Rectangle 1042"/>
          <p:cNvSpPr/>
          <p:nvPr/>
        </p:nvSpPr>
        <p:spPr>
          <a:xfrm>
            <a:off x="457200" y="3749039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4" name="TextBox 1043"/>
          <p:cNvSpPr txBox="1"/>
          <p:nvPr/>
        </p:nvSpPr>
        <p:spPr>
          <a:xfrm>
            <a:off x="530352" y="3822191"/>
            <a:ext cx="1682496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Calibri"/>
              </a:rPr>
              <a:t>5  QBER test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530352" y="4187952"/>
            <a:ext cx="1682496" cy="8503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Disclose 25%; abort if QBER &gt; 11%</a:t>
            </a:r>
          </a:p>
        </p:txBody>
      </p:sp>
      <p:cxnSp>
        <p:nvCxnSpPr>
          <p:cNvPr id="1046" name="Connector 1045"/>
          <p:cNvCxnSpPr/>
          <p:nvPr/>
        </p:nvCxnSpPr>
        <p:spPr>
          <a:xfrm>
            <a:off x="2313432" y="4411979"/>
            <a:ext cx="246888" cy="0"/>
          </a:xfrm>
          <a:prstGeom prst="line">
            <a:avLst/>
          </a:prstGeom>
          <a:ln w="25400">
            <a:solidFill>
              <a:srgbClr val="1F38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7" name="Rounded Rectangle 1046"/>
          <p:cNvSpPr/>
          <p:nvPr/>
        </p:nvSpPr>
        <p:spPr>
          <a:xfrm>
            <a:off x="2587752" y="3749039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8" name="TextBox 1047"/>
          <p:cNvSpPr txBox="1"/>
          <p:nvPr/>
        </p:nvSpPr>
        <p:spPr>
          <a:xfrm>
            <a:off x="2660904" y="3822191"/>
            <a:ext cx="1682496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Calibri"/>
              </a:rPr>
              <a:t>6  Cascade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2660904" y="4187952"/>
            <a:ext cx="1682496" cy="8503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Fix errors; count leaked parities; 64-bit hash check</a:t>
            </a:r>
          </a:p>
        </p:txBody>
      </p:sp>
      <p:cxnSp>
        <p:nvCxnSpPr>
          <p:cNvPr id="1050" name="Connector 1049"/>
          <p:cNvCxnSpPr/>
          <p:nvPr/>
        </p:nvCxnSpPr>
        <p:spPr>
          <a:xfrm>
            <a:off x="4443984" y="4411979"/>
            <a:ext cx="246888" cy="0"/>
          </a:xfrm>
          <a:prstGeom prst="line">
            <a:avLst/>
          </a:prstGeom>
          <a:ln w="25400">
            <a:solidFill>
              <a:srgbClr val="1F38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1" name="Rounded Rectangle 1050"/>
          <p:cNvSpPr/>
          <p:nvPr/>
        </p:nvSpPr>
        <p:spPr>
          <a:xfrm>
            <a:off x="4718304" y="3749039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2" name="TextBox 1051"/>
          <p:cNvSpPr txBox="1"/>
          <p:nvPr/>
        </p:nvSpPr>
        <p:spPr>
          <a:xfrm>
            <a:off x="4791456" y="3822191"/>
            <a:ext cx="1682496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Calibri"/>
              </a:rPr>
              <a:t>7  Privacy amp.</a:t>
            </a:r>
          </a:p>
        </p:txBody>
      </p:sp>
      <p:sp>
        <p:nvSpPr>
          <p:cNvPr id="1053" name="TextBox 1052"/>
          <p:cNvSpPr txBox="1"/>
          <p:nvPr/>
        </p:nvSpPr>
        <p:spPr>
          <a:xfrm>
            <a:off x="4791456" y="4187952"/>
            <a:ext cx="1682496" cy="8503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Toeplitz hash removes Eve's information</a:t>
            </a:r>
          </a:p>
        </p:txBody>
      </p:sp>
      <p:cxnSp>
        <p:nvCxnSpPr>
          <p:cNvPr id="1054" name="Connector 1053"/>
          <p:cNvCxnSpPr/>
          <p:nvPr/>
        </p:nvCxnSpPr>
        <p:spPr>
          <a:xfrm>
            <a:off x="6574536" y="4411979"/>
            <a:ext cx="246888" cy="0"/>
          </a:xfrm>
          <a:prstGeom prst="line">
            <a:avLst/>
          </a:prstGeom>
          <a:ln w="25400">
            <a:solidFill>
              <a:srgbClr val="1F38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5" name="Rounded Rectangle 1054"/>
          <p:cNvSpPr/>
          <p:nvPr/>
        </p:nvSpPr>
        <p:spPr>
          <a:xfrm>
            <a:off x="6848856" y="3749039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6" name="TextBox 1055"/>
          <p:cNvSpPr txBox="1"/>
          <p:nvPr/>
        </p:nvSpPr>
        <p:spPr>
          <a:xfrm>
            <a:off x="6922008" y="3822191"/>
            <a:ext cx="1682496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Calibri"/>
              </a:rPr>
              <a:t>8  HKDF → AES-GCM</a:t>
            </a:r>
          </a:p>
        </p:txBody>
      </p:sp>
      <p:sp>
        <p:nvSpPr>
          <p:cNvPr id="1057" name="TextBox 1056"/>
          <p:cNvSpPr txBox="1"/>
          <p:nvPr/>
        </p:nvSpPr>
        <p:spPr>
          <a:xfrm>
            <a:off x="6922008" y="4187952"/>
            <a:ext cx="1682496" cy="8503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Per-direction keys; encrypt + authenticate</a:t>
            </a:r>
          </a:p>
        </p:txBody>
      </p:sp>
      <p:sp>
        <p:nvSpPr>
          <p:cNvPr id="1058" name="TextBox 1057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Abort paths:</a:t>
            </a:r>
            <a:r>
              <a:rPr sz="1300" b="0">
                <a:solidFill>
                  <a:srgbClr val="1A1A1A"/>
                </a:solidFill>
                <a:latin typeface="Calibri"/>
              </a:rPr>
              <a:t> QBER above threshold → transfer BLOCKED before any encryption; hash mismatch after Cascade or &lt; 256 bits after privacy amplification → no key. Tampered or replayed messages → REJECTED by Bank 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D3997C26-10EB-AC5D-6C62-B3DAA4D72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9FBDF3AD-684A-6896-7380-FCBCF6D277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sz="4000" dirty="0"/>
              <a:t>   Tools &amp; Technologies</a:t>
            </a:r>
            <a:endParaRPr sz="4000" dirty="0"/>
          </a:p>
        </p:txBody>
      </p:sp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425B9D4E-DD67-ECE6-30C2-F414D8CBBF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8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spcBef>
                <a:spcPts val="500"/>
              </a:spcBef>
              <a:buNone/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Programming &amp; Frameworks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Python 3.12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quantum simulation and backend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NumPy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Born-rule measurement model (fast, used for large experiments)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Qiskit 2.6 / Qiskit Aer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gate-level circuit simulation (stabilizer method)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FastAPI + Pydantic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REST API;  </a:t>
            </a:r>
            <a:r>
              <a:rPr sz="1400" b="1">
                <a:solidFill>
                  <a:srgbClr val="1A1A1A"/>
                </a:solidFill>
                <a:latin typeface="Calibri"/>
              </a:rPr>
              <a:t>React 18 + Vite + Tailwind CSS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web interface</a:t>
            </a:r>
          </a:p>
          <a:p>
            <a:pPr marL="114300" indent="0">
              <a:spcBef>
                <a:spcPts val="500"/>
              </a:spcBef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Cryptography &amp; Key Processing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BB84 QKD</a:t>
            </a:r>
            <a:r>
              <a:rPr sz="1400" b="0">
                <a:solidFill>
                  <a:srgbClr val="1A1A1A"/>
                </a:solidFill>
                <a:latin typeface="Calibri"/>
              </a:rPr>
              <a:t> with </a:t>
            </a:r>
            <a:r>
              <a:rPr sz="1400" b="1">
                <a:solidFill>
                  <a:srgbClr val="1A1A1A"/>
                </a:solidFill>
                <a:latin typeface="Calibri"/>
              </a:rPr>
              <a:t>Cascade</a:t>
            </a:r>
            <a:r>
              <a:rPr sz="1400" b="0">
                <a:solidFill>
                  <a:srgbClr val="1A1A1A"/>
                </a:solidFill>
                <a:latin typeface="Calibri"/>
              </a:rPr>
              <a:t> reconciliation and hash verification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Toeplitz universal hashing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privacy amplification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HKDF-SHA256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key derivation only (not privacy amplification)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AES-256-GCM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confidentiality + integrity (Python cryptography / OpenSSL)</a:t>
            </a:r>
          </a:p>
          <a:p>
            <a:pPr marL="114300" indent="0">
              <a:spcBef>
                <a:spcPts val="500"/>
              </a:spcBef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Database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SQLite via SQLAlchemy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sessions, transactions, security events, experiments (PostgreSQL-ready)</a:t>
            </a:r>
          </a:p>
          <a:p>
            <a:pPr marL="114300" indent="0">
              <a:spcBef>
                <a:spcPts val="500"/>
              </a:spcBef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Visualization &amp; Testing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Recharts</a:t>
            </a:r>
            <a:r>
              <a:rPr sz="1400" b="0">
                <a:solidFill>
                  <a:srgbClr val="1A1A1A"/>
                </a:solidFill>
                <a:latin typeface="Calibri"/>
              </a:rPr>
              <a:t> (web) and </a:t>
            </a:r>
            <a:r>
              <a:rPr sz="1400" b="1">
                <a:solidFill>
                  <a:srgbClr val="1A1A1A"/>
                </a:solidFill>
                <a:latin typeface="Calibri"/>
              </a:rPr>
              <a:t>Matplotlib</a:t>
            </a:r>
            <a:r>
              <a:rPr sz="1400" b="0">
                <a:solidFill>
                  <a:srgbClr val="1A1A1A"/>
                </a:solidFill>
                <a:latin typeface="Calibri"/>
              </a:rPr>
              <a:t> (report figures);  </a:t>
            </a:r>
            <a:r>
              <a:rPr sz="1400" b="1">
                <a:solidFill>
                  <a:srgbClr val="1A1A1A"/>
                </a:solidFill>
                <a:latin typeface="Calibri"/>
              </a:rPr>
              <a:t>pytest</a:t>
            </a:r>
            <a:r>
              <a:rPr sz="1400" b="0">
                <a:solidFill>
                  <a:srgbClr val="1A1A1A"/>
                </a:solidFill>
                <a:latin typeface="Calibri"/>
              </a:rPr>
              <a:t> (446 tests) and </a:t>
            </a:r>
            <a:r>
              <a:rPr sz="1400" b="1">
                <a:solidFill>
                  <a:srgbClr val="1A1A1A"/>
                </a:solidFill>
                <a:latin typeface="Calibri"/>
              </a:rPr>
              <a:t>Vitest</a:t>
            </a:r>
            <a:r>
              <a:rPr sz="1400" b="0">
                <a:solidFill>
                  <a:srgbClr val="1A1A1A"/>
                </a:solidFill>
                <a:latin typeface="Calibri"/>
              </a:rPr>
              <a:t> (32 tests)</a:t>
            </a:r>
          </a:p>
        </p:txBody>
      </p:sp>
      <p:pic>
        <p:nvPicPr>
          <p:cNvPr id="98" name="Google Shape;98;p2">
            <a:extLst>
              <a:ext uri="{FF2B5EF4-FFF2-40B4-BE49-F238E27FC236}">
                <a16:creationId xmlns:a16="http://schemas.microsoft.com/office/drawing/2014/main" id="{AA3276BE-44EA-6D20-FBC4-5E6E41F6C4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DB8F0A10-54B8-7600-43D0-FEC5A76DA7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DE26886E-186F-0A6E-5901-CBDBD219C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5781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   Implementation</a:t>
            </a:r>
            <a:endParaRPr dirty="0"/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Design decisions that make the simulation scientifically defensible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457200" y="178308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9" name="TextBox 1028"/>
          <p:cNvSpPr txBox="1"/>
          <p:nvPr/>
        </p:nvSpPr>
        <p:spPr>
          <a:xfrm>
            <a:off x="566928" y="1856231"/>
            <a:ext cx="380390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alibri"/>
              </a:rPr>
              <a:t>Two honest simulation modes</a:t>
            </a:r>
          </a:p>
        </p:txBody>
      </p:sp>
      <p:sp>
        <p:nvSpPr>
          <p:cNvPr id="1030" name="TextBox 1029"/>
          <p:cNvSpPr txBox="1"/>
          <p:nvPr/>
        </p:nvSpPr>
        <p:spPr>
          <a:xfrm>
            <a:off x="566928" y="2203704"/>
            <a:ext cx="380390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50" b="0">
                <a:solidFill>
                  <a:srgbClr val="1A1A1A"/>
                </a:solidFill>
                <a:latin typeface="Calibri"/>
              </a:rPr>
              <a:t>NumPy samples Born-rule probabilities from state vectors; Qiskit Aer runs X/H/measure circuits. Every result is labelled.</a:t>
            </a:r>
          </a:p>
        </p:txBody>
      </p:sp>
      <p:sp>
        <p:nvSpPr>
          <p:cNvPr id="1031" name="Rounded Rectangle 1030"/>
          <p:cNvSpPr/>
          <p:nvPr/>
        </p:nvSpPr>
        <p:spPr>
          <a:xfrm>
            <a:off x="4663440" y="178308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2" name="TextBox 1031"/>
          <p:cNvSpPr txBox="1"/>
          <p:nvPr/>
        </p:nvSpPr>
        <p:spPr>
          <a:xfrm>
            <a:off x="4773168" y="1856231"/>
            <a:ext cx="380390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alibri"/>
              </a:rPr>
              <a:t>Exact channel models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4773168" y="2203704"/>
            <a:ext cx="380390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50" b="0">
                <a:solidFill>
                  <a:srgbClr val="1A1A1A"/>
                </a:solidFill>
                <a:latin typeface="Calibri"/>
              </a:rPr>
              <a:t>Intercept-resend (QBER p/4), depolarizing (p/2), bit-phase flip (q) — each with closed-form theory.</a:t>
            </a:r>
          </a:p>
        </p:txBody>
      </p:sp>
      <p:sp>
        <p:nvSpPr>
          <p:cNvPr id="1034" name="Rounded Rectangle 1033"/>
          <p:cNvSpPr/>
          <p:nvPr/>
        </p:nvSpPr>
        <p:spPr>
          <a:xfrm>
            <a:off x="457200" y="3319272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5" name="TextBox 1034"/>
          <p:cNvSpPr txBox="1"/>
          <p:nvPr/>
        </p:nvSpPr>
        <p:spPr>
          <a:xfrm>
            <a:off x="566928" y="3392424"/>
            <a:ext cx="380390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alibri"/>
              </a:rPr>
              <a:t>Honest key budget</a:t>
            </a:r>
          </a:p>
        </p:txBody>
      </p:sp>
      <p:sp>
        <p:nvSpPr>
          <p:cNvPr id="1036" name="TextBox 1035"/>
          <p:cNvSpPr txBox="1"/>
          <p:nvPr/>
        </p:nvSpPr>
        <p:spPr>
          <a:xfrm>
            <a:off x="566928" y="3739896"/>
            <a:ext cx="380390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50" b="0">
                <a:solidFill>
                  <a:srgbClr val="1A1A1A"/>
                </a:solidFill>
                <a:latin typeface="Calibri"/>
              </a:rPr>
              <a:t>Clopper–Pearson bound; every disclosed parity counted; m = n(1 − h(e)) − leak − 2·log₂(1/ε).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4663440" y="3319272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8" name="TextBox 1037"/>
          <p:cNvSpPr txBox="1"/>
          <p:nvPr/>
        </p:nvSpPr>
        <p:spPr>
          <a:xfrm>
            <a:off x="4773168" y="3392424"/>
            <a:ext cx="380390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alibri"/>
              </a:rPr>
              <a:t>Unique nonces</a:t>
            </a:r>
          </a:p>
        </p:txBody>
      </p:sp>
      <p:sp>
        <p:nvSpPr>
          <p:cNvPr id="1039" name="TextBox 1038"/>
          <p:cNvSpPr txBox="1"/>
          <p:nvPr/>
        </p:nvSpPr>
        <p:spPr>
          <a:xfrm>
            <a:off x="4773168" y="3739896"/>
            <a:ext cx="380390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50" b="0">
                <a:solidFill>
                  <a:srgbClr val="1A1A1A"/>
                </a:solidFill>
                <a:latin typeface="Calibri"/>
              </a:rPr>
              <a:t>4-byte sender field + 64-bit counter; per-direction keys; fresh key per transfer; never wraps.</a:t>
            </a:r>
          </a:p>
        </p:txBody>
      </p:sp>
      <p:sp>
        <p:nvSpPr>
          <p:cNvPr id="1040" name="Rounded Rectangle 1039"/>
          <p:cNvSpPr/>
          <p:nvPr/>
        </p:nvSpPr>
        <p:spPr>
          <a:xfrm>
            <a:off x="457200" y="4855464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1" name="TextBox 1040"/>
          <p:cNvSpPr txBox="1"/>
          <p:nvPr/>
        </p:nvSpPr>
        <p:spPr>
          <a:xfrm>
            <a:off x="566928" y="4928616"/>
            <a:ext cx="380390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alibri"/>
              </a:rPr>
              <a:t>Tamper &amp; replay defence</a:t>
            </a:r>
          </a:p>
        </p:txBody>
      </p:sp>
      <p:sp>
        <p:nvSpPr>
          <p:cNvPr id="1042" name="TextBox 1041"/>
          <p:cNvSpPr txBox="1"/>
          <p:nvPr/>
        </p:nvSpPr>
        <p:spPr>
          <a:xfrm>
            <a:off x="566928" y="5276088"/>
            <a:ext cx="380390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50" b="0">
                <a:solidFill>
                  <a:srgbClr val="1A1A1A"/>
                </a:solidFill>
                <a:latin typeface="Calibri"/>
              </a:rPr>
              <a:t>Routing metadata bound as AES-GCM associated data; replayed nonces rejected.</a:t>
            </a:r>
          </a:p>
        </p:txBody>
      </p:sp>
      <p:sp>
        <p:nvSpPr>
          <p:cNvPr id="1043" name="Rounded Rectangle 1042"/>
          <p:cNvSpPr/>
          <p:nvPr/>
        </p:nvSpPr>
        <p:spPr>
          <a:xfrm>
            <a:off x="4663440" y="4855464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4" name="TextBox 1043"/>
          <p:cNvSpPr txBox="1"/>
          <p:nvPr/>
        </p:nvSpPr>
        <p:spPr>
          <a:xfrm>
            <a:off x="4773168" y="4928616"/>
            <a:ext cx="380390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alibri"/>
              </a:rPr>
              <a:t>No secrets stored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4773168" y="5276088"/>
            <a:ext cx="380390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50" b="0">
                <a:solidFill>
                  <a:srgbClr val="1A1A1A"/>
                </a:solidFill>
                <a:latin typeface="Calibri"/>
              </a:rPr>
              <a:t>Only public key id, nonce, tag and ciphertext; a test scans the raw database file for keys.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   Application Demo</a:t>
            </a:r>
            <a:endParaRPr dirty="0"/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1026" descr="shot_qkd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6949440" cy="43434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28" name="TextBox 1027"/>
          <p:cNvSpPr txBox="1"/>
          <p:nvPr/>
        </p:nvSpPr>
        <p:spPr>
          <a:xfrm>
            <a:off x="548640" y="5760720"/>
            <a:ext cx="804672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QKD Laboratory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16,384 qubits, 10% depolarizing noise: QBER 4.86% → accepted; Cascade fixed 307 errors; 1,827-bit final key; Alice's and Bob's keys match.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   Application Demo</a:t>
            </a:r>
            <a:endParaRPr dirty="0"/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1026" descr="shot_scenari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6949440" cy="43434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28" name="TextBox 1027"/>
          <p:cNvSpPr txBox="1"/>
          <p:nvPr/>
        </p:nvSpPr>
        <p:spPr>
          <a:xfrm>
            <a:off x="548640" y="5760720"/>
            <a:ext cx="804672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Security Simulator, layer 1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full intercept-resend (23.6%) aborts; </a:t>
            </a:r>
            <a:r>
              <a:rPr sz="1400" b="1">
                <a:solidFill>
                  <a:srgbClr val="1A1A1A"/>
                </a:solidFill>
                <a:latin typeface="Calibri"/>
              </a:rPr>
              <a:t>noise alone (30%) also crosses the 11% threshold</a:t>
            </a:r>
            <a:r>
              <a:rPr sz="1400" b="0">
                <a:solidFill>
                  <a:srgbClr val="1A1A1A"/>
                </a:solidFill>
                <a:latin typeface="Calibri"/>
              </a:rPr>
              <a:t>, so QBER signals disturbance, not proof of Eve.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   Application Demo</a:t>
            </a:r>
            <a:endParaRPr dirty="0"/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1026" descr="shot_tam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6949440" cy="43434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28" name="TextBox 1027"/>
          <p:cNvSpPr txBox="1"/>
          <p:nvPr/>
        </p:nvSpPr>
        <p:spPr>
          <a:xfrm>
            <a:off x="548640" y="5760720"/>
            <a:ext cx="804672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Security Simulator, layer 2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one ciphertext bit flipped in transit: Bank B's AES-GCM tag check fails and the message is rejected with no plaintext released.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   Results</a:t>
            </a:r>
            <a:endParaRPr dirty="0"/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QBER under eavesdropping and channel noise (8,192 qubits, 50 trials per point)</a:t>
            </a:r>
          </a:p>
        </p:txBody>
      </p:sp>
      <p:pic>
        <p:nvPicPr>
          <p:cNvPr id="1028" name="Picture 1027" descr="fig1_eve_vs_q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023360" cy="2618116"/>
          </a:xfrm>
          <a:prstGeom prst="rect">
            <a:avLst/>
          </a:prstGeom>
        </p:spPr>
      </p:pic>
      <p:pic>
        <p:nvPicPr>
          <p:cNvPr id="1029" name="Picture 1028" descr="fig2_noise_vs_q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828800"/>
            <a:ext cx="4023360" cy="2618116"/>
          </a:xfrm>
          <a:prstGeom prst="rect">
            <a:avLst/>
          </a:prstGeom>
        </p:spPr>
      </p:pic>
      <p:sp>
        <p:nvSpPr>
          <p:cNvPr id="1030" name="TextBox 1029"/>
          <p:cNvSpPr txBox="1"/>
          <p:nvPr/>
        </p:nvSpPr>
        <p:spPr>
          <a:xfrm>
            <a:off x="457200" y="4572000"/>
            <a:ext cx="822960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Full intercept-and-resend: </a:t>
            </a:r>
            <a:r>
              <a:rPr sz="1400" b="1">
                <a:solidFill>
                  <a:srgbClr val="1A1A1A"/>
                </a:solidFill>
                <a:latin typeface="Calibri"/>
              </a:rPr>
              <a:t>24.94% ± 0.73%</a:t>
            </a:r>
            <a:r>
              <a:rPr sz="1400" b="0">
                <a:solidFill>
                  <a:srgbClr val="1A1A1A"/>
                </a:solidFill>
                <a:latin typeface="Calibri"/>
              </a:rPr>
              <a:t> QBER (theory 25%); Eve learns 50.1% of sifted bits.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Noise alone crosses 11%: depolarizing 25% → </a:t>
            </a:r>
            <a:r>
              <a:rPr sz="1400" b="1">
                <a:solidFill>
                  <a:srgbClr val="1A1A1A"/>
                </a:solidFill>
                <a:latin typeface="Calibri"/>
              </a:rPr>
              <a:t>12.55%</a:t>
            </a:r>
            <a:r>
              <a:rPr sz="1400" b="0">
                <a:solidFill>
                  <a:srgbClr val="1A1A1A"/>
                </a:solidFill>
                <a:latin typeface="Calibri"/>
              </a:rPr>
              <a:t>, bit-phase flip 15% → </a:t>
            </a:r>
            <a:r>
              <a:rPr sz="1400" b="1">
                <a:solidFill>
                  <a:srgbClr val="1A1A1A"/>
                </a:solidFill>
                <a:latin typeface="Calibri"/>
              </a:rPr>
              <a:t>15.00%</a:t>
            </a:r>
            <a:r>
              <a:rPr sz="1400" b="0">
                <a:solidFill>
                  <a:srgbClr val="1A1A1A"/>
                </a:solidFill>
                <a:latin typeface="Calibri"/>
              </a:rPr>
              <a:t>, with no eavesdropper.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All 50 measured points lie within 3 standard errors of closed-form theory (max |z| = 2.98).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   Results</a:t>
            </a:r>
            <a:endParaRPr dirty="0"/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Key acceptance under attack and noise (full pipeline, 30 sessions per point)</a:t>
            </a:r>
          </a:p>
        </p:txBody>
      </p:sp>
      <p:pic>
        <p:nvPicPr>
          <p:cNvPr id="1028" name="Picture 1027" descr="fig4_accep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8229600" cy="2515928"/>
          </a:xfrm>
          <a:prstGeom prst="rect">
            <a:avLst/>
          </a:prstGeom>
        </p:spPr>
      </p:pic>
      <p:graphicFrame>
        <p:nvGraphicFramePr>
          <p:cNvPr id="1029" name="Table 1028"/>
          <p:cNvGraphicFramePr>
            <a:graphicFrameLocks noGrp="1"/>
          </p:cNvGraphicFramePr>
          <p:nvPr/>
        </p:nvGraphicFramePr>
        <p:xfrm>
          <a:off x="457200" y="4434840"/>
          <a:ext cx="8229600" cy="1371600"/>
        </p:xfrm>
        <a:graphic>
          <a:graphicData uri="http://schemas.openxmlformats.org/drawingml/2006/table">
            <a:tbl>
              <a:tblPr firstRow="0" bandRow="0"/>
              <a:tblGrid>
                <a:gridCol w="3017520"/>
                <a:gridCol w="1097280"/>
                <a:gridCol w="2057400"/>
                <a:gridCol w="205740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QBER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Accepted (8,192 qubits)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Accepted (32,768 qubits)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Eve on 25% of qubits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≈ 6.3%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Eve on 30% of qubits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≈ 7.4%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Depolarizing noise 15%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≈ 7.5%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Any channel with QBER ≳ 10.5%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   Results</a:t>
            </a:r>
            <a:endParaRPr dirty="0"/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Main finding: privacy amplification, not the 11% threshold, is the binding constraint</a:t>
            </a:r>
          </a:p>
        </p:txBody>
      </p:sp>
      <p:pic>
        <p:nvPicPr>
          <p:cNvPr id="1028" name="Picture 1027" descr="fig5_key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937760" cy="3213143"/>
          </a:xfrm>
          <a:prstGeom prst="rect">
            <a:avLst/>
          </a:prstGeom>
        </p:spPr>
      </p:pic>
      <p:sp>
        <p:nvSpPr>
          <p:cNvPr id="1029" name="TextBox 1028"/>
          <p:cNvSpPr txBox="1"/>
          <p:nvPr/>
        </p:nvSpPr>
        <p:spPr>
          <a:xfrm>
            <a:off x="5577840" y="1828800"/>
            <a:ext cx="310896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50" b="0">
                <a:solidFill>
                  <a:srgbClr val="1A1A1A"/>
                </a:solidFill>
                <a:latin typeface="Calibri"/>
              </a:rPr>
              <a:t>• Keys stop surviving at </a:t>
            </a:r>
            <a:r>
              <a:rPr sz="1350" b="1">
                <a:solidFill>
                  <a:srgbClr val="1A1A1A"/>
                </a:solidFill>
                <a:latin typeface="Calibri"/>
              </a:rPr>
              <a:t>≈ 6–7% QBER</a:t>
            </a:r>
            <a:r>
              <a:rPr sz="1350" b="0">
                <a:solidFill>
                  <a:srgbClr val="1A1A1A"/>
                </a:solidFill>
                <a:latin typeface="Calibri"/>
              </a:rPr>
              <a:t> (8,192 qubits) and </a:t>
            </a:r>
            <a:r>
              <a:rPr sz="1350" b="1">
                <a:solidFill>
                  <a:srgbClr val="1A1A1A"/>
                </a:solidFill>
                <a:latin typeface="Calibri"/>
              </a:rPr>
              <a:t>≈ 7.5–9%</a:t>
            </a:r>
            <a:r>
              <a:rPr sz="1350" b="0">
                <a:solidFill>
                  <a:srgbClr val="1A1A1A"/>
                </a:solidFill>
                <a:latin typeface="Calibri"/>
              </a:rPr>
              <a:t> (32,768 qubits).</a:t>
            </a:r>
          </a:p>
          <a:p>
            <a:pPr algn="l"/>
          </a:p>
          <a:p>
            <a:pPr algn="l"/>
            <a:r>
              <a:rPr sz="1350" b="0">
                <a:solidFill>
                  <a:srgbClr val="1A1A1A"/>
                </a:solidFill>
                <a:latin typeface="Calibri"/>
              </a:rPr>
              <a:t>• Cascade leaks </a:t>
            </a:r>
            <a:r>
              <a:rPr sz="1350" b="1">
                <a:solidFill>
                  <a:srgbClr val="1A1A1A"/>
                </a:solidFill>
                <a:latin typeface="Calibri"/>
              </a:rPr>
              <a:t>1.13–1.22×</a:t>
            </a:r>
            <a:r>
              <a:rPr sz="1350" b="0">
                <a:solidFill>
                  <a:srgbClr val="1A1A1A"/>
                </a:solidFill>
                <a:latin typeface="Calibri"/>
              </a:rPr>
              <a:t> the Shannon limit, so the asymptotic key rate hits zero at ≈ 9.8%.</a:t>
            </a:r>
          </a:p>
          <a:p>
            <a:pPr algn="l"/>
          </a:p>
          <a:p>
            <a:pPr algn="l"/>
            <a:r>
              <a:rPr sz="1350" b="0">
                <a:solidFill>
                  <a:srgbClr val="1A1A1A"/>
                </a:solidFill>
                <a:latin typeface="Calibri"/>
              </a:rPr>
              <a:t>• Finite-sample bounds cost more: clean-channel yield 0.328 → 0.354 bits/qubit as n grows (max 0.375).</a:t>
            </a:r>
          </a:p>
          <a:p>
            <a:pPr algn="l"/>
          </a:p>
          <a:p>
            <a:pPr algn="l"/>
            <a:r>
              <a:rPr sz="1350" b="0">
                <a:solidFill>
                  <a:srgbClr val="1A1A1A"/>
                </a:solidFill>
                <a:latin typeface="Calibri"/>
              </a:rPr>
              <a:t>• A 45% threshold still gives </a:t>
            </a:r>
            <a:r>
              <a:rPr sz="1350" b="1">
                <a:solidFill>
                  <a:srgbClr val="1A1A1A"/>
                </a:solidFill>
                <a:latin typeface="Calibri"/>
              </a:rPr>
              <a:t>0 key bits</a:t>
            </a:r>
            <a:r>
              <a:rPr sz="1350" b="0">
                <a:solidFill>
                  <a:srgbClr val="1A1A1A"/>
                </a:solidFill>
                <a:latin typeface="Calibri"/>
              </a:rPr>
              <a:t> under full attack (tested).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   Results</a:t>
            </a:r>
            <a:endParaRPr dirty="0"/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Validation against theory and key-processing accuracy</a:t>
            </a:r>
          </a:p>
        </p:txBody>
      </p:sp>
      <p:graphicFrame>
        <p:nvGraphicFramePr>
          <p:cNvPr id="1028" name="Table 1027"/>
          <p:cNvGraphicFramePr>
            <a:graphicFrameLocks noGrp="1"/>
          </p:cNvGraphicFramePr>
          <p:nvPr/>
        </p:nvGraphicFramePr>
        <p:xfrm>
          <a:off x="457200" y="1828800"/>
          <a:ext cx="4846320" cy="2304288"/>
        </p:xfrm>
        <a:graphic>
          <a:graphicData uri="http://schemas.openxmlformats.org/drawingml/2006/table">
            <a:tbl>
              <a:tblPr firstRow="0" bandRow="0"/>
              <a:tblGrid>
                <a:gridCol w="2514600"/>
                <a:gridCol w="777240"/>
                <a:gridCol w="777240"/>
                <a:gridCol w="777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Points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max |z|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|z| &gt; 3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E1 Eve vs QBER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2.98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E2 Depolarizing vs QBER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1.35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E2 Bit-phase flip vs QBER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1.43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E3 Sifted length vs n/2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1.12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E7 Qiskit Aer vs theory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1.01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E7 Qiskit vs NumPy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0.69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29" name="Rounded Rectangle 1028"/>
          <p:cNvSpPr/>
          <p:nvPr/>
        </p:nvSpPr>
        <p:spPr>
          <a:xfrm>
            <a:off x="5532120" y="1828800"/>
            <a:ext cx="1508760" cy="105156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0" name="TextBox 1029"/>
          <p:cNvSpPr txBox="1"/>
          <p:nvPr/>
        </p:nvSpPr>
        <p:spPr>
          <a:xfrm>
            <a:off x="5577840" y="1901952"/>
            <a:ext cx="1417319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200" b="1">
                <a:solidFill>
                  <a:srgbClr val="1F3864"/>
                </a:solidFill>
                <a:latin typeface="Calibri"/>
              </a:rPr>
              <a:t>+0.03 pp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5605272" y="2432304"/>
            <a:ext cx="1362456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QBER estimate bias (1,000 runs)</a:t>
            </a:r>
          </a:p>
        </p:txBody>
      </p:sp>
      <p:sp>
        <p:nvSpPr>
          <p:cNvPr id="1032" name="Rounded Rectangle 1031"/>
          <p:cNvSpPr/>
          <p:nvPr/>
        </p:nvSpPr>
        <p:spPr>
          <a:xfrm>
            <a:off x="7178040" y="1828800"/>
            <a:ext cx="1508760" cy="105156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3" name="TextBox 1032"/>
          <p:cNvSpPr txBox="1"/>
          <p:nvPr/>
        </p:nvSpPr>
        <p:spPr>
          <a:xfrm>
            <a:off x="7223759" y="1901952"/>
            <a:ext cx="1417319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200" b="1">
                <a:solidFill>
                  <a:srgbClr val="1F3864"/>
                </a:solidFill>
                <a:latin typeface="Calibri"/>
              </a:rPr>
              <a:t>99.97%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7251192" y="2432304"/>
            <a:ext cx="1362456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Upper-bound coverage (2,979 / 2,980)</a:t>
            </a:r>
          </a:p>
        </p:txBody>
      </p:sp>
      <p:sp>
        <p:nvSpPr>
          <p:cNvPr id="1035" name="Rounded Rectangle 1034"/>
          <p:cNvSpPr/>
          <p:nvPr/>
        </p:nvSpPr>
        <p:spPr>
          <a:xfrm>
            <a:off x="5532120" y="3063240"/>
            <a:ext cx="1508760" cy="105156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6" name="TextBox 1035"/>
          <p:cNvSpPr txBox="1"/>
          <p:nvPr/>
        </p:nvSpPr>
        <p:spPr>
          <a:xfrm>
            <a:off x="5577840" y="3136392"/>
            <a:ext cx="1417319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200" b="1">
                <a:solidFill>
                  <a:srgbClr val="1F3864"/>
                </a:solidFill>
                <a:latin typeface="Calibri"/>
              </a:rPr>
              <a:t>≈ 1.17×</a:t>
            </a:r>
          </a:p>
        </p:txBody>
      </p:sp>
      <p:sp>
        <p:nvSpPr>
          <p:cNvPr id="1037" name="TextBox 1036"/>
          <p:cNvSpPr txBox="1"/>
          <p:nvPr/>
        </p:nvSpPr>
        <p:spPr>
          <a:xfrm>
            <a:off x="5605272" y="3666744"/>
            <a:ext cx="1362456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Cascade leakage vs Shannon limit</a:t>
            </a:r>
          </a:p>
        </p:txBody>
      </p:sp>
      <p:sp>
        <p:nvSpPr>
          <p:cNvPr id="1038" name="Rounded Rectangle 1037"/>
          <p:cNvSpPr/>
          <p:nvPr/>
        </p:nvSpPr>
        <p:spPr>
          <a:xfrm>
            <a:off x="7178040" y="3063240"/>
            <a:ext cx="1508760" cy="105156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9" name="TextBox 1038"/>
          <p:cNvSpPr txBox="1"/>
          <p:nvPr/>
        </p:nvSpPr>
        <p:spPr>
          <a:xfrm>
            <a:off x="7223759" y="3136392"/>
            <a:ext cx="1417319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200" b="1">
                <a:solidFill>
                  <a:srgbClr val="1F3864"/>
                </a:solidFill>
                <a:latin typeface="Calibri"/>
              </a:rPr>
              <a:t>100%</a:t>
            </a:r>
          </a:p>
        </p:txBody>
      </p:sp>
      <p:sp>
        <p:nvSpPr>
          <p:cNvPr id="1040" name="TextBox 1039"/>
          <p:cNvSpPr txBox="1"/>
          <p:nvPr/>
        </p:nvSpPr>
        <p:spPr>
          <a:xfrm>
            <a:off x="7251192" y="3666744"/>
            <a:ext cx="1362456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Accepted sessions with identical keys (1,053)</a:t>
            </a:r>
          </a:p>
        </p:txBody>
      </p:sp>
      <p:sp>
        <p:nvSpPr>
          <p:cNvPr id="1041" name="TextBox 1040"/>
          <p:cNvSpPr txBox="1"/>
          <p:nvPr/>
        </p:nvSpPr>
        <p:spPr>
          <a:xfrm>
            <a:off x="457200" y="4343400"/>
            <a:ext cx="82296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Sifting keeps half the qubits: ratio 0.498–0.501 for n = 256 … 65,536; spread matches √(0.25/n).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NumPy model and Qiskit Aer circuits differ by ≤ 0.15 percentage points — statistically indistinguishable.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Every result regenerates from </a:t>
            </a:r>
            <a:r>
              <a:rPr sz="1400" b="1">
                <a:solidFill>
                  <a:srgbClr val="1A1A1A"/>
                </a:solidFill>
                <a:latin typeface="Calibri"/>
              </a:rPr>
              <a:t>root seed 2024</a:t>
            </a:r>
            <a:r>
              <a:rPr sz="1400" b="0">
                <a:solidFill>
                  <a:srgbClr val="1A1A1A"/>
                </a:solidFill>
                <a:latin typeface="Calibri"/>
              </a:rPr>
              <a:t> with one command (≈ 90 s): no hand-entered data.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 sz="3400"/>
              <a:t>   Security &amp; Performance</a:t>
            </a:r>
            <a:endParaRPr dirty="0"/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457200" y="132588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Calibri"/>
              </a:rPr>
              <a:t>Attacks simulated</a:t>
            </a:r>
          </a:p>
        </p:txBody>
      </p:sp>
      <p:graphicFrame>
        <p:nvGraphicFramePr>
          <p:cNvPr id="1028" name="Table 1027"/>
          <p:cNvGraphicFramePr>
            <a:graphicFrameLocks noGrp="1"/>
          </p:cNvGraphicFramePr>
          <p:nvPr/>
        </p:nvGraphicFramePr>
        <p:xfrm>
          <a:off x="457200" y="1737360"/>
          <a:ext cx="4023359" cy="3072384"/>
        </p:xfrm>
        <a:graphic>
          <a:graphicData uri="http://schemas.openxmlformats.org/drawingml/2006/table">
            <a:tbl>
              <a:tblPr firstRow="0" bandRow="0"/>
              <a:tblGrid>
                <a:gridCol w="2148840"/>
                <a:gridCol w="1874519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Attack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Full intercept-and-resend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42323"/>
                          </a:solidFill>
                          <a:latin typeface="Calibri"/>
                        </a:rPr>
                        <a:t>✕ Blocked (QBER &gt; 11%)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Flip ciphertext bit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42323"/>
                          </a:solidFill>
                          <a:latin typeface="Calibri"/>
                        </a:rPr>
                        <a:t>✕ Rejected (tag)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Flip authentication-tag bit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42323"/>
                          </a:solidFill>
                          <a:latin typeface="Calibri"/>
                        </a:rPr>
                        <a:t>✕ Rejected (tag)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Flip nonce bit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42323"/>
                          </a:solidFill>
                          <a:latin typeface="Calibri"/>
                        </a:rPr>
                        <a:t>✕ Rejected (tag)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Alter routing metadata (AAD)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42323"/>
                          </a:solidFill>
                          <a:latin typeface="Calibri"/>
                        </a:rPr>
                        <a:t>✕ Rejected (tag)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Receiver uses wrong key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42323"/>
                          </a:solidFill>
                          <a:latin typeface="Calibri"/>
                        </a:rPr>
                        <a:t>✕ Rejected (tag)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Replay delivered message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42323"/>
                          </a:solidFill>
                          <a:latin typeface="Calibri"/>
                        </a:rPr>
                        <a:t>✕ Rejected (replay)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9" name="TextBox 1028"/>
          <p:cNvSpPr txBox="1"/>
          <p:nvPr/>
        </p:nvSpPr>
        <p:spPr>
          <a:xfrm>
            <a:off x="4663440" y="132588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Calibri"/>
              </a:rPr>
              <a:t>Performance (Apple silicon laptop)</a:t>
            </a:r>
          </a:p>
        </p:txBody>
      </p:sp>
      <p:graphicFrame>
        <p:nvGraphicFramePr>
          <p:cNvPr id="1030" name="Table 1029"/>
          <p:cNvGraphicFramePr>
            <a:graphicFrameLocks noGrp="1"/>
          </p:cNvGraphicFramePr>
          <p:nvPr/>
        </p:nvGraphicFramePr>
        <p:xfrm>
          <a:off x="4663440" y="1737360"/>
          <a:ext cx="4023360" cy="3072384"/>
        </p:xfrm>
        <a:graphic>
          <a:graphicData uri="http://schemas.openxmlformats.org/drawingml/2006/table">
            <a:tbl>
              <a:tblPr firstRow="0" bandRow="0"/>
              <a:tblGrid>
                <a:gridCol w="2331720"/>
                <a:gridCol w="16916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Operation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BB84, NumPy model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19 M qubits/s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BB84, Qiskit Aer circuits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≈ 9.4 K qubits/s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Key exchange, 8,192 qubits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4.2 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Key exchange, 32,768 qubits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14.6 ms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HKDF session keys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24.6 µs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AES-256-GCM encrypt / decrypt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1.6 / 0.9 µs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End-to-end transfer + SQLite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3.1 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1" name="TextBox 1030"/>
          <p:cNvSpPr txBox="1"/>
          <p:nvPr/>
        </p:nvSpPr>
        <p:spPr>
          <a:xfrm>
            <a:off x="457200" y="4937760"/>
            <a:ext cx="82296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Every single-bit flip of ciphertext, tag, nonce or associated data is rejected (exhaustive test).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Cascade dominates key-exchange time (≈ 60%); classical cryptography cost is negligible.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Circuit simulation is ≈ 2,000× slower than the NumPy model, which is why large experiments use NumPy.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   Testing &amp; Validation</a:t>
            </a:r>
            <a:endParaRPr dirty="0"/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Rounded Rectangle 1026"/>
          <p:cNvSpPr/>
          <p:nvPr/>
        </p:nvSpPr>
        <p:spPr>
          <a:xfrm>
            <a:off x="457200" y="1417320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8" name="TextBox 1027"/>
          <p:cNvSpPr txBox="1"/>
          <p:nvPr/>
        </p:nvSpPr>
        <p:spPr>
          <a:xfrm>
            <a:off x="502920" y="1490472"/>
            <a:ext cx="1828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800" b="1">
                <a:solidFill>
                  <a:srgbClr val="1F3864"/>
                </a:solidFill>
                <a:latin typeface="Calibri"/>
              </a:rPr>
              <a:t>446</a:t>
            </a:r>
          </a:p>
        </p:txBody>
      </p:sp>
      <p:sp>
        <p:nvSpPr>
          <p:cNvPr id="1029" name="TextBox 1028"/>
          <p:cNvSpPr txBox="1"/>
          <p:nvPr/>
        </p:nvSpPr>
        <p:spPr>
          <a:xfrm>
            <a:off x="530352" y="2020824"/>
            <a:ext cx="1773936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backend tests (pytest)</a:t>
            </a:r>
          </a:p>
        </p:txBody>
      </p:sp>
      <p:sp>
        <p:nvSpPr>
          <p:cNvPr id="1030" name="Rounded Rectangle 1029"/>
          <p:cNvSpPr/>
          <p:nvPr/>
        </p:nvSpPr>
        <p:spPr>
          <a:xfrm>
            <a:off x="2560320" y="1417320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1" name="TextBox 1030"/>
          <p:cNvSpPr txBox="1"/>
          <p:nvPr/>
        </p:nvSpPr>
        <p:spPr>
          <a:xfrm>
            <a:off x="2606039" y="1490472"/>
            <a:ext cx="1828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800" b="1">
                <a:solidFill>
                  <a:srgbClr val="1F3864"/>
                </a:solidFill>
                <a:latin typeface="Calibri"/>
              </a:rPr>
              <a:t>32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2633472" y="2020824"/>
            <a:ext cx="1773936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frontend tests (Vitest)</a:t>
            </a:r>
          </a:p>
        </p:txBody>
      </p:sp>
      <p:sp>
        <p:nvSpPr>
          <p:cNvPr id="1033" name="Rounded Rectangle 1032"/>
          <p:cNvSpPr/>
          <p:nvPr/>
        </p:nvSpPr>
        <p:spPr>
          <a:xfrm>
            <a:off x="4663440" y="1417320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4" name="TextBox 1033"/>
          <p:cNvSpPr txBox="1"/>
          <p:nvPr/>
        </p:nvSpPr>
        <p:spPr>
          <a:xfrm>
            <a:off x="4709159" y="1490472"/>
            <a:ext cx="1828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800" b="1">
                <a:solidFill>
                  <a:srgbClr val="1F3864"/>
                </a:solidFill>
                <a:latin typeface="Calibri"/>
              </a:rPr>
              <a:t>20 / 20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4736592" y="2020824"/>
            <a:ext cx="1773936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deliberate bugs caught</a:t>
            </a:r>
          </a:p>
        </p:txBody>
      </p:sp>
      <p:sp>
        <p:nvSpPr>
          <p:cNvPr id="1036" name="Rounded Rectangle 1035"/>
          <p:cNvSpPr/>
          <p:nvPr/>
        </p:nvSpPr>
        <p:spPr>
          <a:xfrm>
            <a:off x="6766559" y="1417320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7" name="TextBox 1036"/>
          <p:cNvSpPr txBox="1"/>
          <p:nvPr/>
        </p:nvSpPr>
        <p:spPr>
          <a:xfrm>
            <a:off x="6812279" y="1490472"/>
            <a:ext cx="1828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800" b="1">
                <a:solidFill>
                  <a:srgbClr val="1F3864"/>
                </a:solidFill>
                <a:latin typeface="Calibri"/>
              </a:rPr>
              <a:t>0</a:t>
            </a:r>
          </a:p>
        </p:txBody>
      </p:sp>
      <p:sp>
        <p:nvSpPr>
          <p:cNvPr id="1038" name="TextBox 1037"/>
          <p:cNvSpPr txBox="1"/>
          <p:nvPr/>
        </p:nvSpPr>
        <p:spPr>
          <a:xfrm>
            <a:off x="6839712" y="2020824"/>
            <a:ext cx="1773936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keys found in database scan</a:t>
            </a:r>
          </a:p>
        </p:txBody>
      </p:sp>
      <p:sp>
        <p:nvSpPr>
          <p:cNvPr id="1039" name="TextBox 1038"/>
          <p:cNvSpPr txBox="1"/>
          <p:nvPr/>
        </p:nvSpPr>
        <p:spPr>
          <a:xfrm>
            <a:off x="457200" y="2697480"/>
            <a:ext cx="822960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Specification tests:</a:t>
            </a:r>
            <a:r>
              <a:rPr sz="1600" b="0">
                <a:solidFill>
                  <a:srgbClr val="1A1A1A"/>
                </a:solidFill>
                <a:latin typeface="Calibri"/>
              </a:rPr>
              <a:t> matching bases agree; sifting ≈ ½; full intercept-resend → ≈ 25% QBER; more noise → higher QBER; high-QBER sessions abort; accepted keys match; AES-GCM recovers plaintext and rejects tampering; nonces unique under each key.</a:t>
            </a:r>
          </a:p>
          <a:p>
            <a:pPr algn="l"/>
          </a:p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Published test vectors:</a:t>
            </a:r>
            <a:r>
              <a:rPr sz="1600" b="0">
                <a:solidFill>
                  <a:srgbClr val="1A1A1A"/>
                </a:solidFill>
                <a:latin typeface="Calibri"/>
              </a:rPr>
              <a:t> RFC 5869 (HKDF) and McGrew–Viega AES-256-GCM vectors reproduce exactly.</a:t>
            </a:r>
          </a:p>
          <a:p>
            <a:pPr algn="l"/>
          </a:p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Statistical tests:</a:t>
            </a:r>
            <a:r>
              <a:rPr sz="1600" b="0">
                <a:solidFill>
                  <a:srgbClr val="1A1A1A"/>
                </a:solidFill>
                <a:latin typeface="Calibri"/>
              </a:rPr>
              <a:t> fixed seeds and 5σ binomial tolerances derived from theory, not from observed results.</a:t>
            </a:r>
          </a:p>
          <a:p>
            <a:pPr algn="l"/>
          </a:p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Mutation testing:</a:t>
            </a:r>
            <a:r>
              <a:rPr sz="1600" b="0">
                <a:solidFill>
                  <a:srgbClr val="1A1A1A"/>
                </a:solidFill>
                <a:latin typeface="Calibri"/>
              </a:rPr>
              <a:t> each component was deliberately broken. One bug (Cascade without back-tracking) was initially missed → we added a Cascade-invariant test that now catches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sz="4000" dirty="0"/>
              <a:t>    Work Completed</a:t>
            </a:r>
            <a:endParaRPr sz="4000" dirty="0"/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27" name="Table 1026"/>
          <p:cNvGraphicFramePr>
            <a:graphicFrameLocks noGrp="1"/>
          </p:cNvGraphicFramePr>
          <p:nvPr/>
        </p:nvGraphicFramePr>
        <p:xfrm>
          <a:off x="457200" y="1463040"/>
          <a:ext cx="8229600" cy="4773168"/>
        </p:xfrm>
        <a:graphic>
          <a:graphicData uri="http://schemas.openxmlformats.org/drawingml/2006/table">
            <a:tbl>
              <a:tblPr firstRow="0" bandRow="0"/>
              <a:tblGrid>
                <a:gridCol w="1737360"/>
                <a:gridCol w="5394960"/>
                <a:gridCol w="109728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Deliverable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  Setup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Monorepo, pinned dependencies, one-command setup on Windows &amp; macOS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7B34"/>
                          </a:solidFill>
                          <a:latin typeface="Calibri"/>
                        </a:rPr>
                        <a:t>✓ Done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  BB84 engine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Qubit preparation, measurement, sifting; NumPy &amp; Qiskit backends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7B34"/>
                          </a:solidFill>
                          <a:latin typeface="Calibri"/>
                        </a:rPr>
                        <a:t>✓ Done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3  Eve &amp; noise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Intercept-and-resend, depolarizing and bit-phase-flip channels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7B34"/>
                          </a:solidFill>
                          <a:latin typeface="Calibri"/>
                        </a:rPr>
                        <a:t>✓ Done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4  Key processing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QBER sampling, abort rule, Cascade, Toeplitz privacy amplification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7B34"/>
                          </a:solidFill>
                          <a:latin typeface="Calibri"/>
                        </a:rPr>
                        <a:t>✓ Done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5  AES-256-GCM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HKDF keys, unique nonces, tamper and replay rejection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7B34"/>
                          </a:solidFill>
                          <a:latin typeface="Calibri"/>
                        </a:rPr>
                        <a:t>✓ Done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6  Banking &amp; DB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Bank A ↔ Bank B transfers, SQLite history, security event log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7B34"/>
                          </a:solidFill>
                          <a:latin typeface="Calibri"/>
                        </a:rPr>
                        <a:t>✓ Done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7  Web application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Six React pages with live charts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7B34"/>
                          </a:solidFill>
                          <a:latin typeface="Calibri"/>
                        </a:rPr>
                        <a:t>✓ Done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8  Evaluation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Seeded experiments, figures, report, demo guide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7B34"/>
                          </a:solidFill>
                          <a:latin typeface="Calibri"/>
                        </a:rPr>
                        <a:t>✓ Done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5044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sz="4000" dirty="0"/>
              <a:t>   Outcomes Achieved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223645"/>
            <a:ext cx="8229600" cy="5165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spcBef>
                <a:spcPts val="800"/>
              </a:spcBef>
              <a:buNone/>
              <a:buNone/>
            </a:pPr>
            <a:r>
              <a:rPr sz="1900" b="1">
                <a:solidFill>
                  <a:srgbClr val="1F3864"/>
                </a:solidFill>
                <a:latin typeface="Calibri"/>
              </a:rPr>
              <a:t>Research Output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Working </a:t>
            </a:r>
            <a:r>
              <a:rPr sz="1600" b="1">
                <a:solidFill>
                  <a:srgbClr val="1A1A1A"/>
                </a:solidFill>
                <a:latin typeface="Calibri"/>
              </a:rPr>
              <a:t>simulation-based quantum-secure banking platform</a:t>
            </a:r>
            <a:r>
              <a:rPr sz="1600" b="0">
                <a:solidFill>
                  <a:srgbClr val="1A1A1A"/>
                </a:solidFill>
                <a:latin typeface="Calibri"/>
              </a:rPr>
              <a:t> (web app + REST API)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BB84 key establishment between Bank A and Bank B, fresh key per transfer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Eavesdropping detection via QBER: full intercept-resend → </a:t>
            </a:r>
            <a:r>
              <a:rPr sz="1600" b="1">
                <a:solidFill>
                  <a:srgbClr val="1A1A1A"/>
                </a:solidFill>
                <a:latin typeface="Calibri"/>
              </a:rPr>
              <a:t>24.94%</a:t>
            </a:r>
            <a:r>
              <a:rPr sz="1600" b="0">
                <a:solidFill>
                  <a:srgbClr val="1A1A1A"/>
                </a:solidFill>
                <a:latin typeface="Calibri"/>
              </a:rPr>
              <a:t> (theory 25%)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Quantified noise / attack → QBER → key-acceptance relationship from </a:t>
            </a:r>
            <a:r>
              <a:rPr sz="1600" b="1">
                <a:solidFill>
                  <a:srgbClr val="1A1A1A"/>
                </a:solidFill>
                <a:latin typeface="Calibri"/>
              </a:rPr>
              <a:t>≈ 5,200 sessions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Transactions protected with </a:t>
            </a:r>
            <a:r>
              <a:rPr sz="1600" b="1">
                <a:solidFill>
                  <a:srgbClr val="1A1A1A"/>
                </a:solidFill>
                <a:latin typeface="Calibri"/>
              </a:rPr>
              <a:t>AES-256-GCM</a:t>
            </a:r>
            <a:r>
              <a:rPr sz="1600" b="0">
                <a:solidFill>
                  <a:srgbClr val="1A1A1A"/>
                </a:solidFill>
                <a:latin typeface="Calibri"/>
              </a:rPr>
              <a:t>; all tampering and replays rejected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Security-event and transaction logging; no key material ever persisted</a:t>
            </a:r>
          </a:p>
          <a:p>
            <a:pPr marL="114300" indent="0">
              <a:spcBef>
                <a:spcPts val="800"/>
              </a:spcBef>
              <a:buNone/>
            </a:pPr>
            <a:r>
              <a:rPr sz="1900" b="1">
                <a:solidFill>
                  <a:srgbClr val="1F3864"/>
                </a:solidFill>
                <a:latin typeface="Calibri"/>
              </a:rPr>
              <a:t>SDG Mapping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Primary: SDG 9 – Industry, Innovation and Infrastructure</a:t>
            </a:r>
            <a:r>
              <a:rPr sz="1600" b="0">
                <a:solidFill>
                  <a:srgbClr val="1A1A1A"/>
                </a:solidFill>
                <a:latin typeface="Calibri"/>
              </a:rPr>
              <a:t> — secure, resilient digital infrastructure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Secondary: SDG 16 – Peace, Justice and Strong Institutions</a:t>
            </a:r>
            <a:r>
              <a:rPr sz="1600" b="0">
                <a:solidFill>
                  <a:srgbClr val="1A1A1A"/>
                </a:solidFill>
                <a:latin typeface="Calibri"/>
              </a:rPr>
              <a:t> — trustworthy financial communication</a:t>
            </a: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1341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   Limitations</a:t>
            </a:r>
            <a:endParaRPr dirty="0"/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Rounded Rectangle 1026"/>
          <p:cNvSpPr/>
          <p:nvPr/>
        </p:nvSpPr>
        <p:spPr>
          <a:xfrm>
            <a:off x="457200" y="1554480"/>
            <a:ext cx="4023360" cy="420624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8" name="TextBox 1027"/>
          <p:cNvSpPr txBox="1"/>
          <p:nvPr/>
        </p:nvSpPr>
        <p:spPr>
          <a:xfrm>
            <a:off x="566928" y="1627632"/>
            <a:ext cx="380390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alibri"/>
              </a:rPr>
              <a:t>Physics &amp; attack model</a:t>
            </a:r>
          </a:p>
        </p:txBody>
      </p:sp>
      <p:sp>
        <p:nvSpPr>
          <p:cNvPr id="1029" name="TextBox 1028"/>
          <p:cNvSpPr txBox="1"/>
          <p:nvPr/>
        </p:nvSpPr>
        <p:spPr>
          <a:xfrm>
            <a:off x="566928" y="1975104"/>
            <a:ext cx="3803904" cy="37490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Ideal single-photon source; no loss or detector imperfections</a:t>
            </a:r>
          </a:p>
          <a:p>
            <a:pPr algn="l"/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Only intercept-and-resend Eve (no collective or side-channel attacks)</a:t>
            </a:r>
          </a:p>
          <a:p>
            <a:pPr algn="l"/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I.i.d. noise; pseudo-random (not quantum) random numbers</a:t>
            </a:r>
          </a:p>
          <a:p>
            <a:pPr algn="l"/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Classical computer simulation — no quantum hardware</a:t>
            </a:r>
          </a:p>
        </p:txBody>
      </p:sp>
      <p:sp>
        <p:nvSpPr>
          <p:cNvPr id="1030" name="Rounded Rectangle 1029"/>
          <p:cNvSpPr/>
          <p:nvPr/>
        </p:nvSpPr>
        <p:spPr>
          <a:xfrm>
            <a:off x="4663440" y="1554480"/>
            <a:ext cx="4023360" cy="42062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1" name="TextBox 1030"/>
          <p:cNvSpPr txBox="1"/>
          <p:nvPr/>
        </p:nvSpPr>
        <p:spPr>
          <a:xfrm>
            <a:off x="4773168" y="1627632"/>
            <a:ext cx="380390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alibri"/>
              </a:rPr>
              <a:t>Security analysis &amp; engineering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4773168" y="1975104"/>
            <a:ext cx="3803904" cy="37490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Key length is Shor–Preskill-style, asymptotic-inspired — not a composable finite-key proof</a:t>
            </a:r>
          </a:p>
          <a:p>
            <a:pPr algn="l"/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Classical-channel authentication assumed, not implemented</a:t>
            </a:r>
          </a:p>
          <a:p>
            <a:pPr algn="l"/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11% threshold is illustrative, not universal</a:t>
            </a:r>
          </a:p>
          <a:p>
            <a:pPr algn="l"/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Keys in Python memory; no API auth or TLS; fictional banking only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Conclusion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789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spcBef>
                <a:spcPts val="600"/>
              </a:spcBef>
              <a:buNone/>
              <a:buNone/>
            </a:pPr>
            <a:r>
              <a:rPr sz="1800" b="1">
                <a:solidFill>
                  <a:srgbClr val="1F3864"/>
                </a:solidFill>
                <a:latin typeface="Calibri"/>
              </a:rPr>
              <a:t>Summary of Work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Built a </a:t>
            </a:r>
            <a:r>
              <a:rPr sz="1500" b="1">
                <a:solidFill>
                  <a:srgbClr val="1A1A1A"/>
                </a:solidFill>
                <a:latin typeface="Calibri"/>
              </a:rPr>
              <a:t>Quantum-Secure Banking Network</a:t>
            </a:r>
            <a:r>
              <a:rPr sz="1500" b="0">
                <a:solidFill>
                  <a:srgbClr val="1A1A1A"/>
                </a:solidFill>
                <a:latin typeface="Calibri"/>
              </a:rPr>
              <a:t> simulation: BB84 key establishment, QBER-based eavesdropping detection, Cascade reconciliation, Toeplitz privacy amplification and AES-256-GCM transaction protection.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Results match quantum theory (50/50 points within 3σ); NumPy and Qiskit Aer agree.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Key finding:</a:t>
            </a:r>
            <a:r>
              <a:rPr sz="1500" b="0">
                <a:solidFill>
                  <a:srgbClr val="1A1A1A"/>
                </a:solidFill>
                <a:latin typeface="Calibri"/>
              </a:rPr>
              <a:t> privacy amplification — not the 11% threshold — decides whether a usable key exists (keys stop at ≈ 6–9% QBER depending on block size).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QKD and classical cryptography complement each other: quantum for key establishment, AES-GCM for data.</a:t>
            </a:r>
          </a:p>
          <a:p>
            <a:pPr marL="114300" indent="0">
              <a:spcBef>
                <a:spcPts val="600"/>
              </a:spcBef>
              <a:buNone/>
            </a:pPr>
            <a:r>
              <a:rPr sz="1800" b="1">
                <a:solidFill>
                  <a:srgbClr val="1F3864"/>
                </a:solidFill>
                <a:latin typeface="Calibri"/>
              </a:rPr>
              <a:t>Future Scope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Decoy-state BB84 with loss and detector models; BBM92 / E91 protocols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Composable finite-key analysis; LDPC reconciliation to reduce leakage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Post-quantum hybrid (ML-KEM + QKD); authenticated classical channel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Multi-bank trusted-node network and key-pool management; photonic testbed validation</a:t>
            </a: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25240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168708" y="27268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References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SzPts val="3200"/>
              <a:buNone/>
            </a:pPr>
            <a:endParaRPr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7E11F4-7C8D-AB3F-D4B2-95EA18146FD6}"/>
              </a:ext>
            </a:extLst>
          </p:cNvPr>
          <p:cNvSpPr txBox="1"/>
          <p:nvPr/>
        </p:nvSpPr>
        <p:spPr>
          <a:xfrm>
            <a:off x="745692" y="1339741"/>
            <a:ext cx="733746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[1]</a:t>
            </a:r>
            <a:r>
              <a:rPr lang="en-IN" dirty="0"/>
              <a:t> A. </a:t>
            </a:r>
            <a:r>
              <a:rPr lang="en-IN" dirty="0" err="1"/>
              <a:t>Brazaola</a:t>
            </a:r>
            <a:r>
              <a:rPr lang="en-IN" dirty="0"/>
              <a:t>-Vicario, A. Ruiz, O. Lage, E. Jacob, and J. Astorga, “Quantum key distribution: a survey on current vulnerability trends and potential implementation risks,” </a:t>
            </a:r>
            <a:r>
              <a:rPr lang="en-IN" i="1" dirty="0"/>
              <a:t>Optics Continuum</a:t>
            </a:r>
            <a:r>
              <a:rPr lang="en-IN" dirty="0"/>
              <a:t>, vol. 3, no. 8, pp. 1438–1460, 2024. </a:t>
            </a:r>
            <a:r>
              <a:rPr lang="en-IN" dirty="0" err="1"/>
              <a:t>doi</a:t>
            </a:r>
            <a:r>
              <a:rPr lang="en-IN" dirty="0"/>
              <a:t>: </a:t>
            </a:r>
            <a:r>
              <a:rPr lang="en-IN" b="1" dirty="0"/>
              <a:t>10.1364/OPTCON.530352</a:t>
            </a:r>
            <a:r>
              <a:rPr lang="en-IN" dirty="0"/>
              <a:t>. </a:t>
            </a:r>
          </a:p>
          <a:p>
            <a:endParaRPr lang="en-IN" dirty="0"/>
          </a:p>
          <a:p>
            <a:r>
              <a:rPr lang="en-IN" b="1" dirty="0"/>
              <a:t>[2]</a:t>
            </a:r>
            <a:r>
              <a:rPr lang="en-IN" dirty="0"/>
              <a:t> S. Nikula, A. </a:t>
            </a:r>
            <a:r>
              <a:rPr lang="en-IN" dirty="0" err="1"/>
              <a:t>Lintulampi</a:t>
            </a:r>
            <a:r>
              <a:rPr lang="en-IN" dirty="0"/>
              <a:t>, and K. </a:t>
            </a:r>
            <a:r>
              <a:rPr lang="en-IN" dirty="0" err="1"/>
              <a:t>Halunen</a:t>
            </a:r>
            <a:r>
              <a:rPr lang="en-IN" dirty="0"/>
              <a:t>, “Security Analysis for BB84 Key Distillation,” in </a:t>
            </a:r>
            <a:r>
              <a:rPr lang="en-IN" i="1" dirty="0"/>
              <a:t>Proceedings of the 21st International Conference on Security and Cryptography (SECRYPT)</a:t>
            </a:r>
            <a:r>
              <a:rPr lang="en-IN" dirty="0"/>
              <a:t>, 2024, vol. 1, pp. 407–415. </a:t>
            </a:r>
            <a:r>
              <a:rPr lang="en-IN" dirty="0" err="1"/>
              <a:t>doi</a:t>
            </a:r>
            <a:r>
              <a:rPr lang="en-IN" dirty="0"/>
              <a:t>: </a:t>
            </a:r>
            <a:r>
              <a:rPr lang="en-IN" b="1" dirty="0"/>
              <a:t>10.5220/0012717500003767</a:t>
            </a:r>
            <a:endParaRPr lang="en-IN" dirty="0"/>
          </a:p>
          <a:p>
            <a:endParaRPr lang="en-IN" b="1" dirty="0"/>
          </a:p>
          <a:p>
            <a:r>
              <a:rPr lang="en-IN" b="1" dirty="0"/>
              <a:t>[3]</a:t>
            </a:r>
            <a:r>
              <a:rPr lang="en-IN" dirty="0"/>
              <a:t> A. Stathis, A. </a:t>
            </a:r>
            <a:r>
              <a:rPr lang="en-IN" dirty="0" err="1"/>
              <a:t>Ntanos</a:t>
            </a:r>
            <a:r>
              <a:rPr lang="en-IN" dirty="0"/>
              <a:t>, P. </a:t>
            </a:r>
            <a:r>
              <a:rPr lang="en-IN" dirty="0" err="1"/>
              <a:t>Toumasis</a:t>
            </a:r>
            <a:r>
              <a:rPr lang="en-IN" dirty="0"/>
              <a:t>, N. K. Lyras, G. Giannoulis, and H. Avramopoulos, “Experimental feasibility analysis of quantum/classical coexistence over fibre and free space links,” </a:t>
            </a:r>
            <a:r>
              <a:rPr lang="en-IN" i="1" dirty="0"/>
              <a:t>IET Quantum Communication</a:t>
            </a:r>
            <a:r>
              <a:rPr lang="en-IN" dirty="0"/>
              <a:t>, vol. 5, no. 4, pp. 575–585, 2024. </a:t>
            </a:r>
          </a:p>
          <a:p>
            <a:endParaRPr lang="en-IN" b="1" dirty="0"/>
          </a:p>
          <a:p>
            <a:r>
              <a:rPr lang="en-IN" b="1" dirty="0"/>
              <a:t>[4]</a:t>
            </a:r>
            <a:r>
              <a:rPr lang="en-IN" dirty="0"/>
              <a:t> E. Dervisevic </a:t>
            </a:r>
            <a:r>
              <a:rPr lang="en-IN" i="1" dirty="0"/>
              <a:t>et al.</a:t>
            </a:r>
            <a:r>
              <a:rPr lang="en-IN" dirty="0"/>
              <a:t>, “Quantum Key Distribution Networks – Key Management: A Survey,” </a:t>
            </a:r>
            <a:r>
              <a:rPr lang="en-IN" i="1" dirty="0"/>
              <a:t>ACM Computing Surveys</a:t>
            </a:r>
            <a:r>
              <a:rPr lang="en-IN" dirty="0"/>
              <a:t>, vol. 57, no. 10, Article 257, 2025. </a:t>
            </a:r>
          </a:p>
          <a:p>
            <a:endParaRPr lang="en-IN" b="1" dirty="0"/>
          </a:p>
          <a:p>
            <a:r>
              <a:rPr lang="en-IN" b="1" dirty="0"/>
              <a:t>[5]</a:t>
            </a:r>
            <a:r>
              <a:rPr lang="en-IN" dirty="0"/>
              <a:t> P. </a:t>
            </a:r>
            <a:r>
              <a:rPr lang="en-IN" dirty="0" err="1"/>
              <a:t>Wawage</a:t>
            </a:r>
            <a:r>
              <a:rPr lang="en-IN" dirty="0"/>
              <a:t> </a:t>
            </a:r>
            <a:r>
              <a:rPr lang="en-IN" i="1" dirty="0"/>
              <a:t>et al.</a:t>
            </a:r>
            <a:r>
              <a:rPr lang="en-IN" dirty="0"/>
              <a:t>, “Quantum Key Distribution for Secure Financial Data Exchange,” in </a:t>
            </a:r>
            <a:r>
              <a:rPr lang="en-IN" i="1" dirty="0"/>
              <a:t>2025 15th International Conference on Mathematics, Actuarial Science, Computer Science and Statistics (MACS)</a:t>
            </a:r>
            <a:r>
              <a:rPr lang="en-IN" dirty="0"/>
              <a:t>, 2025. </a:t>
            </a:r>
          </a:p>
          <a:p>
            <a:endParaRPr lang="en-IN" b="1" dirty="0"/>
          </a:p>
          <a:p>
            <a:r>
              <a:rPr lang="en-IN" b="1" dirty="0"/>
              <a:t>[6]</a:t>
            </a:r>
            <a:r>
              <a:rPr lang="en-IN" dirty="0"/>
              <a:t> M. Selimović </a:t>
            </a:r>
            <a:r>
              <a:rPr lang="en-IN" i="1" dirty="0"/>
              <a:t>et al.</a:t>
            </a:r>
            <a:r>
              <a:rPr lang="en-IN" dirty="0"/>
              <a:t>, “Deployment of Entanglement-Based QKD in Financial </a:t>
            </a:r>
          </a:p>
          <a:p>
            <a:r>
              <a:rPr lang="en-IN" dirty="0"/>
              <a:t>Infrastructure,” </a:t>
            </a:r>
            <a:r>
              <a:rPr lang="en-IN" dirty="0" err="1"/>
              <a:t>arXiv</a:t>
            </a:r>
            <a:r>
              <a:rPr lang="en-IN" dirty="0"/>
              <a:t> preprint </a:t>
            </a:r>
            <a:r>
              <a:rPr lang="en-IN" b="1" dirty="0"/>
              <a:t>arXiv:2607.11252</a:t>
            </a:r>
            <a:r>
              <a:rPr lang="en-IN" dirty="0"/>
              <a:t>, 2026.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9811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   References</a:t>
            </a:r>
            <a:endParaRPr dirty="0"/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457200" y="1417320"/>
            <a:ext cx="8229600" cy="4846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[7] C. H. Bennett and G. Brassard, “Quantum cryptography: Public key distribution and coin tossing,” Proc. IEEE Int. Conf. Computers, Systems and Signal Processing, Bangalore, pp. 175–179, 1984.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[8] P. W. Shor and J. Preskill, “Simple proof of security of the BB84 quantum key distribution protocol,” Phys. Rev. Lett., vol. 85, p. 441, 2000.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[9] G. Brassard and L. Salvail, “Secret-key reconciliation by public discussion,” EUROCRYPT ’93, LNCS 765, pp. 410–423, 1994.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[10] C. H. Bennett, G. Brassard, C. Crépeau and U. M. Maurer, “Generalized privacy amplification,” IEEE Trans. Inf. Theory, vol. 41, no. 6, pp. 1915–1923, 1995.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[11] H. Krawczyk, “LFSR-based hashing and authentication,” CRYPTO ’94, LNCS 839, pp. 129–139, 1994.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[12] C. J. Clopper and E. S. Pearson, “The use of confidence or fiducial limits illustrated in the case of the binomial,” Biometrika, vol. 26, no. 4, pp. 404–413, 1934.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[13] M. Dworkin, “Recommendation for Block Cipher Modes of Operation: GCM and GMAC,” NIST SP 800-38D, 2007.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[14] H. Krawczyk and P. Eronen, “HMAC-based Extract-and-Expand Key Derivation Function (HKDF),” RFC 5869, 2010.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[15] M. Tomamichel, C. C. W. Lim, N. Gisin and R. Renner, “Tight finite-key analysis for quantum cryptography,” Nature Communications, vol. 3, p. 634, 2012.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[16] A. Javadi-Abhari et al., “Quantum computing with Qiskit,” arXiv:2405.08810, 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1777</Words>
  <Application>Microsoft Office PowerPoint</Application>
  <PresentationFormat>On-screen Show (4:3)</PresentationFormat>
  <Paragraphs>193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QUANTUM-SECURE BANKING NETWORK USING BB84 QUANTUM KEY DISTRIBUTION Design and Simulation of a Hybrid Quantum-Classical Framework for Secure Inter-Bank Transactions</vt:lpstr>
      <vt:lpstr>   Problem Statement</vt:lpstr>
      <vt:lpstr>   Problem Statement</vt:lpstr>
      <vt:lpstr> Objectives</vt:lpstr>
      <vt:lpstr>  Literature Review</vt:lpstr>
      <vt:lpstr>PowerPoint Presentation</vt:lpstr>
      <vt:lpstr>PowerPoint Presentation</vt:lpstr>
      <vt:lpstr>PowerPoint Presentation</vt:lpstr>
      <vt:lpstr>    Proposed Methodology</vt:lpstr>
      <vt:lpstr>    Work Plan / Timeline</vt:lpstr>
      <vt:lpstr>PowerPoint Presentation</vt:lpstr>
      <vt:lpstr>    Expected Outcome</vt:lpstr>
      <vt:lpstr>    Conclusion</vt:lpstr>
      <vt:lpstr>   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 of Project&gt;</dc:title>
  <dc:creator>Kevin</dc:creator>
  <cp:lastModifiedBy>Rudraksh Tewari</cp:lastModifiedBy>
  <cp:revision>17</cp:revision>
  <dcterms:created xsi:type="dcterms:W3CDTF">2020-05-13T07:00:09Z</dcterms:created>
  <dcterms:modified xsi:type="dcterms:W3CDTF">2026-10-05T18:51:11Z</dcterms:modified>
</cp:coreProperties>
</file>